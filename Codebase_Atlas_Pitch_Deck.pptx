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009EFE-7982-4FA8-B99A-552AC9F759B3}" v="3" dt="2026-06-12T07:15:10.9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yavadan, S T P" userId="c7aaec7f-e52d-4aef-9030-f97bc238ef59" providerId="ADAL" clId="{B32534BD-C857-4E54-83BD-440511E19BD3}"/>
    <pc:docChg chg="undo custSel modSld">
      <pc:chgData name="Hayavadan, S T P" userId="c7aaec7f-e52d-4aef-9030-f97bc238ef59" providerId="ADAL" clId="{B32534BD-C857-4E54-83BD-440511E19BD3}" dt="2026-06-12T07:15:19.534" v="113" actId="14100"/>
      <pc:docMkLst>
        <pc:docMk/>
      </pc:docMkLst>
      <pc:sldChg chg="modSp mod">
        <pc:chgData name="Hayavadan, S T P" userId="c7aaec7f-e52d-4aef-9030-f97bc238ef59" providerId="ADAL" clId="{B32534BD-C857-4E54-83BD-440511E19BD3}" dt="2026-06-12T07:13:19.118" v="76" actId="20577"/>
        <pc:sldMkLst>
          <pc:docMk/>
          <pc:sldMk cId="0" sldId="256"/>
        </pc:sldMkLst>
        <pc:spChg chg="mod">
          <ac:chgData name="Hayavadan, S T P" userId="c7aaec7f-e52d-4aef-9030-f97bc238ef59" providerId="ADAL" clId="{B32534BD-C857-4E54-83BD-440511E19BD3}" dt="2026-06-12T07:13:19.118" v="76" actId="20577"/>
          <ac:spMkLst>
            <pc:docMk/>
            <pc:sldMk cId="0" sldId="256"/>
            <ac:spMk id="21" creationId="{00000000-0000-0000-0000-000000000000}"/>
          </ac:spMkLst>
        </pc:spChg>
      </pc:sldChg>
      <pc:sldChg chg="addSp modSp mod">
        <pc:chgData name="Hayavadan, S T P" userId="c7aaec7f-e52d-4aef-9030-f97bc238ef59" providerId="ADAL" clId="{B32534BD-C857-4E54-83BD-440511E19BD3}" dt="2026-06-12T07:15:19.534" v="113" actId="14100"/>
        <pc:sldMkLst>
          <pc:docMk/>
          <pc:sldMk cId="0" sldId="262"/>
        </pc:sldMkLst>
        <pc:spChg chg="mod">
          <ac:chgData name="Hayavadan, S T P" userId="c7aaec7f-e52d-4aef-9030-f97bc238ef59" providerId="ADAL" clId="{B32534BD-C857-4E54-83BD-440511E19BD3}" dt="2026-06-12T07:15:10.971" v="111" actId="164"/>
          <ac:spMkLst>
            <pc:docMk/>
            <pc:sldMk cId="0" sldId="262"/>
            <ac:spMk id="17" creationId="{00000000-0000-0000-0000-000000000000}"/>
          </ac:spMkLst>
        </pc:spChg>
        <pc:spChg chg="mod">
          <ac:chgData name="Hayavadan, S T P" userId="c7aaec7f-e52d-4aef-9030-f97bc238ef59" providerId="ADAL" clId="{B32534BD-C857-4E54-83BD-440511E19BD3}" dt="2026-06-12T07:15:10.971" v="111" actId="164"/>
          <ac:spMkLst>
            <pc:docMk/>
            <pc:sldMk cId="0" sldId="262"/>
            <ac:spMk id="18" creationId="{00000000-0000-0000-0000-000000000000}"/>
          </ac:spMkLst>
        </pc:spChg>
        <pc:grpChg chg="add mod">
          <ac:chgData name="Hayavadan, S T P" userId="c7aaec7f-e52d-4aef-9030-f97bc238ef59" providerId="ADAL" clId="{B32534BD-C857-4E54-83BD-440511E19BD3}" dt="2026-06-12T07:15:16.664" v="112" actId="1076"/>
          <ac:grpSpMkLst>
            <pc:docMk/>
            <pc:sldMk cId="0" sldId="262"/>
            <ac:grpSpMk id="37" creationId="{25DC6045-A691-430A-9CDE-12ED2FDB6437}"/>
          </ac:grpSpMkLst>
        </pc:grpChg>
        <pc:cxnChg chg="mod">
          <ac:chgData name="Hayavadan, S T P" userId="c7aaec7f-e52d-4aef-9030-f97bc238ef59" providerId="ADAL" clId="{B32534BD-C857-4E54-83BD-440511E19BD3}" dt="2026-06-12T07:15:19.534" v="113" actId="14100"/>
          <ac:cxnSpMkLst>
            <pc:docMk/>
            <pc:sldMk cId="0" sldId="262"/>
            <ac:cxnSpMk id="22" creationId="{00000000-0000-0000-0000-000000000000}"/>
          </ac:cxnSpMkLst>
        </pc:cxnChg>
      </pc:sldChg>
      <pc:sldChg chg="addSp delSp modSp mod">
        <pc:chgData name="Hayavadan, S T P" userId="c7aaec7f-e52d-4aef-9030-f97bc238ef59" providerId="ADAL" clId="{B32534BD-C857-4E54-83BD-440511E19BD3}" dt="2026-06-12T07:14:49.622" v="108" actId="1076"/>
        <pc:sldMkLst>
          <pc:docMk/>
          <pc:sldMk cId="0" sldId="263"/>
        </pc:sldMkLst>
        <pc:spChg chg="mod">
          <ac:chgData name="Hayavadan, S T P" userId="c7aaec7f-e52d-4aef-9030-f97bc238ef59" providerId="ADAL" clId="{B32534BD-C857-4E54-83BD-440511E19BD3}" dt="2026-06-12T07:14:28.969" v="105" actId="164"/>
          <ac:spMkLst>
            <pc:docMk/>
            <pc:sldMk cId="0" sldId="263"/>
            <ac:spMk id="43" creationId="{00000000-0000-0000-0000-000000000000}"/>
          </ac:spMkLst>
        </pc:spChg>
        <pc:spChg chg="mod">
          <ac:chgData name="Hayavadan, S T P" userId="c7aaec7f-e52d-4aef-9030-f97bc238ef59" providerId="ADAL" clId="{B32534BD-C857-4E54-83BD-440511E19BD3}" dt="2026-06-12T07:14:28.969" v="105" actId="164"/>
          <ac:spMkLst>
            <pc:docMk/>
            <pc:sldMk cId="0" sldId="263"/>
            <ac:spMk id="44" creationId="{00000000-0000-0000-0000-000000000000}"/>
          </ac:spMkLst>
        </pc:spChg>
        <pc:spChg chg="mod">
          <ac:chgData name="Hayavadan, S T P" userId="c7aaec7f-e52d-4aef-9030-f97bc238ef59" providerId="ADAL" clId="{B32534BD-C857-4E54-83BD-440511E19BD3}" dt="2026-06-12T07:14:28.969" v="105" actId="164"/>
          <ac:spMkLst>
            <pc:docMk/>
            <pc:sldMk cId="0" sldId="263"/>
            <ac:spMk id="45" creationId="{00000000-0000-0000-0000-000000000000}"/>
          </ac:spMkLst>
        </pc:spChg>
        <pc:spChg chg="mod">
          <ac:chgData name="Hayavadan, S T P" userId="c7aaec7f-e52d-4aef-9030-f97bc238ef59" providerId="ADAL" clId="{B32534BD-C857-4E54-83BD-440511E19BD3}" dt="2026-06-12T07:14:28.969" v="105" actId="164"/>
          <ac:spMkLst>
            <pc:docMk/>
            <pc:sldMk cId="0" sldId="263"/>
            <ac:spMk id="46" creationId="{00000000-0000-0000-0000-000000000000}"/>
          </ac:spMkLst>
        </pc:spChg>
        <pc:spChg chg="mod">
          <ac:chgData name="Hayavadan, S T P" userId="c7aaec7f-e52d-4aef-9030-f97bc238ef59" providerId="ADAL" clId="{B32534BD-C857-4E54-83BD-440511E19BD3}" dt="2026-06-12T07:14:28.969" v="105" actId="164"/>
          <ac:spMkLst>
            <pc:docMk/>
            <pc:sldMk cId="0" sldId="263"/>
            <ac:spMk id="47" creationId="{00000000-0000-0000-0000-000000000000}"/>
          </ac:spMkLst>
        </pc:spChg>
        <pc:spChg chg="mod">
          <ac:chgData name="Hayavadan, S T P" userId="c7aaec7f-e52d-4aef-9030-f97bc238ef59" providerId="ADAL" clId="{B32534BD-C857-4E54-83BD-440511E19BD3}" dt="2026-06-12T07:14:49.622" v="108" actId="1076"/>
          <ac:spMkLst>
            <pc:docMk/>
            <pc:sldMk cId="0" sldId="263"/>
            <ac:spMk id="48" creationId="{00000000-0000-0000-0000-000000000000}"/>
          </ac:spMkLst>
        </pc:spChg>
        <pc:grpChg chg="add mod">
          <ac:chgData name="Hayavadan, S T P" userId="c7aaec7f-e52d-4aef-9030-f97bc238ef59" providerId="ADAL" clId="{B32534BD-C857-4E54-83BD-440511E19BD3}" dt="2026-06-12T07:14:38.770" v="106" actId="1076"/>
          <ac:grpSpMkLst>
            <pc:docMk/>
            <pc:sldMk cId="0" sldId="263"/>
            <ac:grpSpMk id="50" creationId="{1E0888F8-648E-F52F-3260-1F575720FACD}"/>
          </ac:grpSpMkLst>
        </pc:grpChg>
        <pc:cxnChg chg="del">
          <ac:chgData name="Hayavadan, S T P" userId="c7aaec7f-e52d-4aef-9030-f97bc238ef59" providerId="ADAL" clId="{B32534BD-C857-4E54-83BD-440511E19BD3}" dt="2026-06-12T07:13:31.199" v="77" actId="478"/>
          <ac:cxnSpMkLst>
            <pc:docMk/>
            <pc:sldMk cId="0" sldId="263"/>
            <ac:cxnSpMk id="38" creationId="{00000000-0000-0000-0000-000000000000}"/>
          </ac:cxnSpMkLst>
        </pc:cxnChg>
      </pc:sldChg>
      <pc:sldChg chg="addSp modSp mod">
        <pc:chgData name="Hayavadan, S T P" userId="c7aaec7f-e52d-4aef-9030-f97bc238ef59" providerId="ADAL" clId="{B32534BD-C857-4E54-83BD-440511E19BD3}" dt="2026-06-12T07:14:02.464" v="104" actId="1076"/>
        <pc:sldMkLst>
          <pc:docMk/>
          <pc:sldMk cId="0" sldId="266"/>
        </pc:sldMkLst>
        <pc:spChg chg="mod">
          <ac:chgData name="Hayavadan, S T P" userId="c7aaec7f-e52d-4aef-9030-f97bc238ef59" providerId="ADAL" clId="{B32534BD-C857-4E54-83BD-440511E19BD3}" dt="2026-06-12T07:13:52.538" v="103" actId="1076"/>
          <ac:spMkLst>
            <pc:docMk/>
            <pc:sldMk cId="0" sldId="266"/>
            <ac:spMk id="2" creationId="{00000000-0000-0000-0000-000000000000}"/>
          </ac:spMkLst>
        </pc:spChg>
        <pc:spChg chg="mod">
          <ac:chgData name="Hayavadan, S T P" userId="c7aaec7f-e52d-4aef-9030-f97bc238ef59" providerId="ADAL" clId="{B32534BD-C857-4E54-83BD-440511E19BD3}" dt="2026-06-12T07:13:44.254" v="78" actId="164"/>
          <ac:spMkLst>
            <pc:docMk/>
            <pc:sldMk cId="0" sldId="266"/>
            <ac:spMk id="8" creationId="{00000000-0000-0000-0000-000000000000}"/>
          </ac:spMkLst>
        </pc:spChg>
        <pc:spChg chg="mod">
          <ac:chgData name="Hayavadan, S T P" userId="c7aaec7f-e52d-4aef-9030-f97bc238ef59" providerId="ADAL" clId="{B32534BD-C857-4E54-83BD-440511E19BD3}" dt="2026-06-12T07:13:44.254" v="78" actId="164"/>
          <ac:spMkLst>
            <pc:docMk/>
            <pc:sldMk cId="0" sldId="266"/>
            <ac:spMk id="9" creationId="{00000000-0000-0000-0000-000000000000}"/>
          </ac:spMkLst>
        </pc:spChg>
        <pc:spChg chg="mod">
          <ac:chgData name="Hayavadan, S T P" userId="c7aaec7f-e52d-4aef-9030-f97bc238ef59" providerId="ADAL" clId="{B32534BD-C857-4E54-83BD-440511E19BD3}" dt="2026-06-12T07:13:44.254" v="78" actId="164"/>
          <ac:spMkLst>
            <pc:docMk/>
            <pc:sldMk cId="0" sldId="266"/>
            <ac:spMk id="10" creationId="{00000000-0000-0000-0000-000000000000}"/>
          </ac:spMkLst>
        </pc:spChg>
        <pc:spChg chg="mod">
          <ac:chgData name="Hayavadan, S T P" userId="c7aaec7f-e52d-4aef-9030-f97bc238ef59" providerId="ADAL" clId="{B32534BD-C857-4E54-83BD-440511E19BD3}" dt="2026-06-12T07:13:44.254" v="78" actId="164"/>
          <ac:spMkLst>
            <pc:docMk/>
            <pc:sldMk cId="0" sldId="266"/>
            <ac:spMk id="11" creationId="{00000000-0000-0000-0000-000000000000}"/>
          </ac:spMkLst>
        </pc:spChg>
        <pc:spChg chg="mod">
          <ac:chgData name="Hayavadan, S T P" userId="c7aaec7f-e52d-4aef-9030-f97bc238ef59" providerId="ADAL" clId="{B32534BD-C857-4E54-83BD-440511E19BD3}" dt="2026-06-12T07:13:44.254" v="78" actId="164"/>
          <ac:spMkLst>
            <pc:docMk/>
            <pc:sldMk cId="0" sldId="266"/>
            <ac:spMk id="12" creationId="{00000000-0000-0000-0000-000000000000}"/>
          </ac:spMkLst>
        </pc:spChg>
        <pc:spChg chg="mod">
          <ac:chgData name="Hayavadan, S T P" userId="c7aaec7f-e52d-4aef-9030-f97bc238ef59" providerId="ADAL" clId="{B32534BD-C857-4E54-83BD-440511E19BD3}" dt="2026-06-12T07:13:44.254" v="78" actId="164"/>
          <ac:spMkLst>
            <pc:docMk/>
            <pc:sldMk cId="0" sldId="266"/>
            <ac:spMk id="13" creationId="{00000000-0000-0000-0000-000000000000}"/>
          </ac:spMkLst>
        </pc:spChg>
        <pc:spChg chg="mod">
          <ac:chgData name="Hayavadan, S T P" userId="c7aaec7f-e52d-4aef-9030-f97bc238ef59" providerId="ADAL" clId="{B32534BD-C857-4E54-83BD-440511E19BD3}" dt="2026-06-12T07:13:44.254" v="78" actId="164"/>
          <ac:spMkLst>
            <pc:docMk/>
            <pc:sldMk cId="0" sldId="266"/>
            <ac:spMk id="14" creationId="{00000000-0000-0000-0000-000000000000}"/>
          </ac:spMkLst>
        </pc:spChg>
        <pc:spChg chg="mod">
          <ac:chgData name="Hayavadan, S T P" userId="c7aaec7f-e52d-4aef-9030-f97bc238ef59" providerId="ADAL" clId="{B32534BD-C857-4E54-83BD-440511E19BD3}" dt="2026-06-12T07:13:44.254" v="78" actId="164"/>
          <ac:spMkLst>
            <pc:docMk/>
            <pc:sldMk cId="0" sldId="266"/>
            <ac:spMk id="15" creationId="{00000000-0000-0000-0000-000000000000}"/>
          </ac:spMkLst>
        </pc:spChg>
        <pc:spChg chg="mod">
          <ac:chgData name="Hayavadan, S T P" userId="c7aaec7f-e52d-4aef-9030-f97bc238ef59" providerId="ADAL" clId="{B32534BD-C857-4E54-83BD-440511E19BD3}" dt="2026-06-12T07:13:44.254" v="78" actId="164"/>
          <ac:spMkLst>
            <pc:docMk/>
            <pc:sldMk cId="0" sldId="266"/>
            <ac:spMk id="16" creationId="{00000000-0000-0000-0000-000000000000}"/>
          </ac:spMkLst>
        </pc:spChg>
        <pc:spChg chg="mod">
          <ac:chgData name="Hayavadan, S T P" userId="c7aaec7f-e52d-4aef-9030-f97bc238ef59" providerId="ADAL" clId="{B32534BD-C857-4E54-83BD-440511E19BD3}" dt="2026-06-12T07:13:44.254" v="78" actId="164"/>
          <ac:spMkLst>
            <pc:docMk/>
            <pc:sldMk cId="0" sldId="266"/>
            <ac:spMk id="17" creationId="{00000000-0000-0000-0000-000000000000}"/>
          </ac:spMkLst>
        </pc:spChg>
        <pc:grpChg chg="mod">
          <ac:chgData name="Hayavadan, S T P" userId="c7aaec7f-e52d-4aef-9030-f97bc238ef59" providerId="ADAL" clId="{B32534BD-C857-4E54-83BD-440511E19BD3}" dt="2026-06-12T07:14:02.464" v="104" actId="1076"/>
          <ac:grpSpMkLst>
            <pc:docMk/>
            <pc:sldMk cId="0" sldId="266"/>
            <ac:grpSpMk id="21" creationId="{58B59EB9-005B-570C-8B35-70E8CEC3BD94}"/>
          </ac:grpSpMkLst>
        </pc:gr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-914400" y="4206240"/>
            <a:ext cx="14630400" cy="3657600"/>
          </a:xfrm>
          <a:prstGeom prst="rect">
            <a:avLst/>
          </a:prstGeom>
          <a:solidFill>
            <a:srgbClr val="12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-914400" y="5120640"/>
            <a:ext cx="14630400" cy="2743200"/>
          </a:xfrm>
          <a:prstGeom prst="rect">
            <a:avLst/>
          </a:prstGeom>
          <a:solidFill>
            <a:srgbClr val="0E1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828800" y="1920240"/>
            <a:ext cx="310896" cy="310896"/>
          </a:xfrm>
          <a:prstGeom prst="ellipse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2834640" y="1371600"/>
            <a:ext cx="201168" cy="20116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3657600" y="2377440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424160" y="1645920"/>
            <a:ext cx="237744" cy="23774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064240" y="2468880"/>
            <a:ext cx="164592" cy="164592"/>
          </a:xfrm>
          <a:prstGeom prst="ellipse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692640" y="1097280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881360" y="4206240"/>
            <a:ext cx="182880" cy="182880"/>
          </a:xfrm>
          <a:prstGeom prst="ellipse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" name="Connector 11"/>
          <p:cNvCxnSpPr/>
          <p:nvPr/>
        </p:nvCxnSpPr>
        <p:spPr>
          <a:xfrm flipV="1">
            <a:off x="1984248" y="1472184"/>
            <a:ext cx="950976" cy="603504"/>
          </a:xfrm>
          <a:prstGeom prst="line">
            <a:avLst/>
          </a:prstGeom>
          <a:ln w="12700">
            <a:solidFill>
              <a:srgbClr val="2A314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935224" y="1472184"/>
            <a:ext cx="804672" cy="987552"/>
          </a:xfrm>
          <a:prstGeom prst="line">
            <a:avLst/>
          </a:prstGeom>
          <a:ln w="12700">
            <a:solidFill>
              <a:srgbClr val="2A314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0" y="640080"/>
            <a:ext cx="12191695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C5CFF"/>
                </a:solidFill>
                <a:latin typeface="Segoe UI"/>
              </a:rPr>
              <a:t>◈  MICROSOFT AGENTS LEAGUE @ AISF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2331720"/>
            <a:ext cx="12191695" cy="1371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6000" b="1" i="0">
                <a:solidFill>
                  <a:srgbClr val="E8ECF4"/>
                </a:solidFill>
                <a:latin typeface="Segoe UI"/>
              </a:rPr>
              <a:t>CODEBASE ATLAS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3429000"/>
            <a:ext cx="12191695" cy="7315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1">
                <a:solidFill>
                  <a:srgbClr val="22D3EE"/>
                </a:solidFill>
                <a:latin typeface="Segoe UI"/>
              </a:rPr>
              <a:t>Google Maps for any codebase — an AI guide flies you through the code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0" y="4297680"/>
            <a:ext cx="12191695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9CA3AF"/>
                </a:solidFill>
                <a:latin typeface="Segoe UI"/>
              </a:rPr>
              <a:t>Creative Apps Track  ·  powered by Microsoft Foundry IQ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23360" y="4983480"/>
            <a:ext cx="4160520" cy="868680"/>
          </a:xfrm>
          <a:prstGeom prst="roundRect">
            <a:avLst/>
          </a:prstGeom>
          <a:solidFill>
            <a:srgbClr val="161B29"/>
          </a:solidFill>
          <a:ln w="15875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023360" y="5074920"/>
            <a:ext cx="41605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CA3AF"/>
                </a:solidFill>
                <a:latin typeface="Segoe UI"/>
              </a:rPr>
              <a:t>Built &amp; presented by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5349240"/>
            <a:ext cx="416052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E8ECF4"/>
                </a:solidFill>
                <a:latin typeface="Segoe UI"/>
              </a:rPr>
              <a:t>S T P Hayavadan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0" y="6355080"/>
            <a:ext cx="12191695" cy="2062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1" dirty="0">
                <a:solidFill>
                  <a:srgbClr val="9CA3AF"/>
                </a:solidFill>
                <a:latin typeface="Segoe UI"/>
              </a:rPr>
              <a:t>Pitch Deck  ·  June 2026  </a:t>
            </a:r>
            <a:r>
              <a:rPr lang="en-GB" sz="1100" b="0" i="1" dirty="0">
                <a:solidFill>
                  <a:srgbClr val="9CA3AF"/>
                </a:solidFill>
                <a:latin typeface="Segoe UI"/>
              </a:rPr>
              <a:t>·</a:t>
            </a:r>
            <a:endParaRPr sz="1100" b="0" i="1" dirty="0">
              <a:solidFill>
                <a:srgbClr val="9CA3AF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7C5CFF"/>
                </a:solidFill>
                <a:latin typeface="Segoe UI"/>
              </a:rPr>
              <a:t>WHERE THIS TOUR FLIES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7280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E8ECF4"/>
                </a:solidFill>
                <a:latin typeface="Segoe UI"/>
              </a:rPr>
              <a:t>Index  ·  the flight plan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5394960" cy="749808"/>
          </a:xfrm>
          <a:prstGeom prst="roundRect">
            <a:avLst/>
          </a:prstGeom>
          <a:solidFill>
            <a:srgbClr val="161B29"/>
          </a:solidFill>
          <a:ln w="12700">
            <a:solidFill>
              <a:srgbClr val="2A31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874519"/>
            <a:ext cx="109728" cy="74980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914400" cy="7498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22D3EE"/>
                </a:solidFill>
                <a:latin typeface="Segoe U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1874519"/>
            <a:ext cx="4114800" cy="7498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E8ECF4"/>
                </a:solidFill>
                <a:latin typeface="Segoe UI"/>
              </a:rPr>
              <a:t>Introduction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788920"/>
            <a:ext cx="5394960" cy="749808"/>
          </a:xfrm>
          <a:prstGeom prst="roundRect">
            <a:avLst/>
          </a:prstGeom>
          <a:solidFill>
            <a:srgbClr val="161B29"/>
          </a:solidFill>
          <a:ln w="12700">
            <a:solidFill>
              <a:srgbClr val="2A31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2788920"/>
            <a:ext cx="109728" cy="7498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6112" y="2788920"/>
            <a:ext cx="914400" cy="7498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59E0B"/>
                </a:solidFill>
                <a:latin typeface="Segoe U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2788920"/>
            <a:ext cx="4114800" cy="7498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E8ECF4"/>
                </a:solidFill>
                <a:latin typeface="Segoe UI"/>
              </a:rPr>
              <a:t>Problem Statement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703320"/>
            <a:ext cx="5394960" cy="749808"/>
          </a:xfrm>
          <a:prstGeom prst="roundRect">
            <a:avLst/>
          </a:prstGeom>
          <a:solidFill>
            <a:srgbClr val="161B29"/>
          </a:solidFill>
          <a:ln w="12700">
            <a:solidFill>
              <a:srgbClr val="2A31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" y="3703320"/>
            <a:ext cx="109728" cy="74980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6112" y="3703320"/>
            <a:ext cx="914400" cy="7498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34D399"/>
                </a:solidFill>
                <a:latin typeface="Segoe U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3703320"/>
            <a:ext cx="4114800" cy="7498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E8ECF4"/>
                </a:solidFill>
                <a:latin typeface="Segoe UI"/>
              </a:rPr>
              <a:t>Business Impact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617720"/>
            <a:ext cx="5394960" cy="749808"/>
          </a:xfrm>
          <a:prstGeom prst="roundRect">
            <a:avLst/>
          </a:prstGeom>
          <a:solidFill>
            <a:srgbClr val="161B29"/>
          </a:solidFill>
          <a:ln w="12700">
            <a:solidFill>
              <a:srgbClr val="2A31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" y="4617720"/>
            <a:ext cx="109728" cy="749808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96112" y="4617720"/>
            <a:ext cx="914400" cy="7498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472B6"/>
                </a:solidFill>
                <a:latin typeface="Segoe U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4617720"/>
            <a:ext cx="4114800" cy="7498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E8ECF4"/>
                </a:solidFill>
                <a:latin typeface="Segoe UI"/>
              </a:rPr>
              <a:t>Solution Overview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532120"/>
            <a:ext cx="5394960" cy="749808"/>
          </a:xfrm>
          <a:prstGeom prst="roundRect">
            <a:avLst/>
          </a:prstGeom>
          <a:solidFill>
            <a:srgbClr val="161B29"/>
          </a:solidFill>
          <a:ln w="12700">
            <a:solidFill>
              <a:srgbClr val="2A31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0080" y="5532120"/>
            <a:ext cx="109728" cy="74980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96112" y="5532120"/>
            <a:ext cx="914400" cy="7498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22D3EE"/>
                </a:solidFill>
                <a:latin typeface="Segoe U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83080" y="5532120"/>
            <a:ext cx="4114800" cy="7498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E8ECF4"/>
                </a:solidFill>
                <a:latin typeface="Segoe UI"/>
              </a:rPr>
              <a:t>Technical Architecture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92240" y="1874519"/>
            <a:ext cx="5394960" cy="749808"/>
          </a:xfrm>
          <a:prstGeom prst="roundRect">
            <a:avLst/>
          </a:prstGeom>
          <a:solidFill>
            <a:srgbClr val="161B29"/>
          </a:solidFill>
          <a:ln w="12700">
            <a:solidFill>
              <a:srgbClr val="2A31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492240" y="1874519"/>
            <a:ext cx="109728" cy="7498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748272" y="1874519"/>
            <a:ext cx="914400" cy="7498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59E0B"/>
                </a:solidFill>
                <a:latin typeface="Segoe UI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35240" y="1874519"/>
            <a:ext cx="4114800" cy="7498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E8ECF4"/>
                </a:solidFill>
                <a:latin typeface="Segoe UI"/>
              </a:rPr>
              <a:t>User Flow Architecture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92240" y="2788920"/>
            <a:ext cx="5394960" cy="749808"/>
          </a:xfrm>
          <a:prstGeom prst="roundRect">
            <a:avLst/>
          </a:prstGeom>
          <a:solidFill>
            <a:srgbClr val="161B29"/>
          </a:solidFill>
          <a:ln w="12700">
            <a:solidFill>
              <a:srgbClr val="2A31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492240" y="2788920"/>
            <a:ext cx="109728" cy="74980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748272" y="2788920"/>
            <a:ext cx="914400" cy="7498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34D399"/>
                </a:solidFill>
                <a:latin typeface="Segoe UI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35240" y="2788920"/>
            <a:ext cx="4114800" cy="7498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E8ECF4"/>
                </a:solidFill>
                <a:latin typeface="Segoe UI"/>
              </a:rPr>
              <a:t>Future Scope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92240" y="3703320"/>
            <a:ext cx="5394960" cy="749808"/>
          </a:xfrm>
          <a:prstGeom prst="roundRect">
            <a:avLst/>
          </a:prstGeom>
          <a:solidFill>
            <a:srgbClr val="161B29"/>
          </a:solidFill>
          <a:ln w="12700">
            <a:solidFill>
              <a:srgbClr val="2A31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492240" y="3703320"/>
            <a:ext cx="109728" cy="749808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748272" y="3703320"/>
            <a:ext cx="914400" cy="7498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472B6"/>
                </a:solidFill>
                <a:latin typeface="Segoe UI"/>
              </a:rP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35240" y="3703320"/>
            <a:ext cx="4114800" cy="7498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E8ECF4"/>
                </a:solidFill>
                <a:latin typeface="Segoe UI"/>
              </a:rPr>
              <a:t>Conclusion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92240" y="4617720"/>
            <a:ext cx="5394960" cy="749808"/>
          </a:xfrm>
          <a:prstGeom prst="roundRect">
            <a:avLst/>
          </a:prstGeom>
          <a:solidFill>
            <a:srgbClr val="161B29"/>
          </a:solidFill>
          <a:ln w="12700">
            <a:solidFill>
              <a:srgbClr val="2A31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492240" y="4617720"/>
            <a:ext cx="109728" cy="74980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748272" y="4617720"/>
            <a:ext cx="914400" cy="7498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22D3EE"/>
                </a:solidFill>
                <a:latin typeface="Segoe UI"/>
              </a:rPr>
              <a:t>09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35240" y="4617720"/>
            <a:ext cx="4114800" cy="7498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E8ECF4"/>
                </a:solidFill>
                <a:latin typeface="Segoe UI"/>
              </a:rPr>
              <a:t>Vote of Thanks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92240" y="5532120"/>
            <a:ext cx="5394960" cy="749808"/>
          </a:xfrm>
          <a:prstGeom prst="roundRect">
            <a:avLst/>
          </a:prstGeom>
          <a:solidFill>
            <a:srgbClr val="161B29"/>
          </a:solidFill>
          <a:ln w="12700">
            <a:solidFill>
              <a:srgbClr val="2A31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492240" y="5532120"/>
            <a:ext cx="109728" cy="749808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748272" y="5532120"/>
            <a:ext cx="914400" cy="7498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7C5CFF"/>
                </a:solidFill>
                <a:latin typeface="Segoe UI"/>
              </a:rPr>
              <a:t>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35240" y="5532120"/>
            <a:ext cx="4114800" cy="7498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E8ECF4"/>
                </a:solidFill>
                <a:latin typeface="Segoe UI"/>
              </a:rPr>
              <a:t>Thank You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9CA3AF"/>
                </a:solidFill>
                <a:latin typeface="Segoe UI"/>
              </a:rPr>
              <a:t>Codebase Atlas  ·  S T P Hayavadan  ·  Microsoft Agents League @ AISF 2026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9CA3AF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2D3EE"/>
                </a:solidFill>
                <a:latin typeface="Segoe UI"/>
              </a:rPr>
              <a:t>01 ·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7280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E8ECF4"/>
                </a:solidFill>
                <a:latin typeface="Segoe UI"/>
              </a:rPr>
              <a:t>What on earth is Codebase Atlas?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6766560" cy="2011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0" i="0">
                <a:solidFill>
                  <a:srgbClr val="E8ECF4"/>
                </a:solidFill>
                <a:latin typeface="Segoe UI"/>
              </a:rPr>
              <a:t>Point it at a Python repo. It builds a </a:t>
            </a:r>
            <a:r>
              <a:rPr sz="1500" b="1" i="0">
                <a:solidFill>
                  <a:srgbClr val="22D3EE"/>
                </a:solidFill>
                <a:latin typeface="Segoe UI"/>
              </a:rPr>
              <a:t>living, zoomable map</a:t>
            </a:r>
            <a:r>
              <a:rPr sz="1500" b="0" i="0">
                <a:solidFill>
                  <a:srgbClr val="E8ECF4"/>
                </a:solidFill>
                <a:latin typeface="Segoe UI"/>
              </a:rPr>
              <a:t> of the code — packages as glowing continents, files as cities, classes as districts, functions as streets.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0" i="0">
                <a:solidFill>
                  <a:srgbClr val="E8ECF4"/>
                </a:solidFill>
                <a:latin typeface="Segoe UI"/>
              </a:rPr>
              <a:t>Then an </a:t>
            </a:r>
            <a:r>
              <a:rPr sz="1500" b="1" i="0">
                <a:solidFill>
                  <a:srgbClr val="34D399"/>
                </a:solidFill>
                <a:latin typeface="Segoe UI"/>
              </a:rPr>
              <a:t>AI guide narrates a cinematic tour</a:t>
            </a:r>
            <a:r>
              <a:rPr sz="1500" b="0" i="0">
                <a:solidFill>
                  <a:srgbClr val="E8ECF4"/>
                </a:solidFill>
                <a:latin typeface="Segoe UI"/>
              </a:rPr>
              <a:t> through it, speaking each stop aloud. Ask “how does X work?” and the camera </a:t>
            </a:r>
            <a:r>
              <a:rPr sz="1500" b="1" i="0">
                <a:solidFill>
                  <a:srgbClr val="F59E0B"/>
                </a:solidFill>
                <a:latin typeface="Segoe UI"/>
              </a:rPr>
              <a:t>flies you to the exact node</a:t>
            </a:r>
            <a:r>
              <a:rPr sz="1500" b="0" i="0">
                <a:solidFill>
                  <a:srgbClr val="E8ECF4"/>
                </a:solidFill>
                <a:latin typeface="Segoe UI"/>
              </a:rPr>
              <a:t> and explains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1783080"/>
            <a:ext cx="3840480" cy="548640"/>
          </a:xfrm>
          <a:prstGeom prst="roundRect">
            <a:avLst/>
          </a:prstGeom>
          <a:solidFill>
            <a:srgbClr val="161B29"/>
          </a:solidFill>
          <a:ln w="15875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18119" y="1783080"/>
            <a:ext cx="155448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C5CFF"/>
                </a:solidFill>
                <a:latin typeface="Segoe UI"/>
              </a:rPr>
              <a:t>Package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72600" y="1783080"/>
            <a:ext cx="201168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E8ECF4"/>
                </a:solidFill>
                <a:latin typeface="Segoe UI"/>
              </a:rPr>
              <a:t>🌍 continent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2441448"/>
            <a:ext cx="3840480" cy="548640"/>
          </a:xfrm>
          <a:prstGeom prst="roundRect">
            <a:avLst/>
          </a:prstGeom>
          <a:solidFill>
            <a:srgbClr val="161B29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18119" y="2441448"/>
            <a:ext cx="155448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22D3EE"/>
                </a:solidFill>
                <a:latin typeface="Segoe UI"/>
              </a:rPr>
              <a:t>Module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72600" y="2441448"/>
            <a:ext cx="201168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E8ECF4"/>
                </a:solidFill>
                <a:latin typeface="Segoe UI"/>
              </a:rPr>
              <a:t>🏙 city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3099815"/>
            <a:ext cx="3840480" cy="548640"/>
          </a:xfrm>
          <a:prstGeom prst="roundRect">
            <a:avLst/>
          </a:prstGeom>
          <a:solidFill>
            <a:srgbClr val="161B29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18119" y="3099815"/>
            <a:ext cx="155448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59E0B"/>
                </a:solidFill>
                <a:latin typeface="Segoe UI"/>
              </a:rPr>
              <a:t>Class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72600" y="3099815"/>
            <a:ext cx="201168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E8ECF4"/>
                </a:solidFill>
                <a:latin typeface="Segoe UI"/>
              </a:rPr>
              <a:t>🏛 district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3758184"/>
            <a:ext cx="3840480" cy="548640"/>
          </a:xfrm>
          <a:prstGeom prst="roundRect">
            <a:avLst/>
          </a:prstGeom>
          <a:solidFill>
            <a:srgbClr val="161B29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818119" y="3758184"/>
            <a:ext cx="155448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34D399"/>
                </a:solidFill>
                <a:latin typeface="Segoe UI"/>
              </a:rPr>
              <a:t>Function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72600" y="3758184"/>
            <a:ext cx="201168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E8ECF4"/>
                </a:solidFill>
                <a:latin typeface="Segoe UI"/>
              </a:rPr>
              <a:t>🛣 street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35240" y="4416552"/>
            <a:ext cx="3840480" cy="548640"/>
          </a:xfrm>
          <a:prstGeom prst="roundRect">
            <a:avLst/>
          </a:prstGeom>
          <a:solidFill>
            <a:srgbClr val="161B29"/>
          </a:solidFill>
          <a:ln w="15875">
            <a:solidFill>
              <a:srgbClr val="F472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818119" y="4416552"/>
            <a:ext cx="155448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472B6"/>
                </a:solidFill>
                <a:latin typeface="Segoe UI"/>
              </a:rPr>
              <a:t>Method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4416552"/>
            <a:ext cx="201168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E8ECF4"/>
                </a:solidFill>
                <a:latin typeface="Segoe UI"/>
              </a:rPr>
              <a:t>🏠 building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069080"/>
            <a:ext cx="3200400" cy="2148840"/>
          </a:xfrm>
          <a:prstGeom prst="roundRect">
            <a:avLst/>
          </a:prstGeom>
          <a:solidFill>
            <a:srgbClr val="161B29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19" y="4142232"/>
            <a:ext cx="301752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Onboarding docs: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1" y="4636008"/>
            <a:ext cx="2871216" cy="914400"/>
          </a:xfrm>
          <a:prstGeom prst="roundRect">
            <a:avLst/>
          </a:prstGeom>
          <a:solidFill>
            <a:srgbClr val="0A0C14"/>
          </a:solidFill>
          <a:ln w="12700">
            <a:solidFill>
              <a:srgbClr val="2A31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4671" y="4636008"/>
            <a:ext cx="2871216" cy="9144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0" i="0">
                <a:solidFill>
                  <a:srgbClr val="E8ECF4"/>
                </a:solidFill>
                <a:latin typeface="Segoe UI"/>
              </a:rPr>
              <a:t>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19" y="5650992"/>
            <a:ext cx="301752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“good luck, read the source”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023360" y="4069080"/>
            <a:ext cx="3200400" cy="2148840"/>
          </a:xfrm>
          <a:prstGeom prst="roundRect">
            <a:avLst/>
          </a:prstGeom>
          <a:solidFill>
            <a:srgbClr val="161B29"/>
          </a:solidFill>
          <a:ln w="190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114800" y="4142232"/>
            <a:ext cx="301752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Codebase Atlas: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87952" y="4636008"/>
            <a:ext cx="2871216" cy="914400"/>
          </a:xfrm>
          <a:prstGeom prst="roundRect">
            <a:avLst/>
          </a:prstGeom>
          <a:solidFill>
            <a:srgbClr val="0A0C14"/>
          </a:solidFill>
          <a:ln w="12700">
            <a:solidFill>
              <a:srgbClr val="2A31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187952" y="4636008"/>
            <a:ext cx="2871216" cy="9144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0" i="0">
                <a:solidFill>
                  <a:srgbClr val="E8ECF4"/>
                </a:solidFill>
                <a:latin typeface="Segoe UI"/>
              </a:rPr>
              <a:t>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5650992"/>
            <a:ext cx="301752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“buckle up, I’ll drive”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35240" y="5166360"/>
            <a:ext cx="3840480" cy="10058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22D3EE"/>
                </a:solidFill>
                <a:latin typeface="Segoe UI"/>
              </a:rPr>
              <a:t>The pitch in one line: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E8ECF4"/>
                </a:solidFill>
                <a:latin typeface="Segoe UI"/>
              </a:rPr>
              <a:t>A new dev usually spends </a:t>
            </a:r>
            <a:r>
              <a:rPr sz="1200" b="1" i="0">
                <a:solidFill>
                  <a:srgbClr val="F59E0B"/>
                </a:solidFill>
                <a:latin typeface="Segoe UI"/>
              </a:rPr>
              <a:t>weeks</a:t>
            </a:r>
            <a:r>
              <a:rPr sz="1200" b="0" i="0">
                <a:solidFill>
                  <a:srgbClr val="E8ECF4"/>
                </a:solidFill>
                <a:latin typeface="Segoe UI"/>
              </a:rPr>
              <a:t> finding their bearings. Atlas turns that into a </a:t>
            </a:r>
            <a:r>
              <a:rPr sz="1200" b="1" i="0">
                <a:solidFill>
                  <a:srgbClr val="34D399"/>
                </a:solidFill>
                <a:latin typeface="Segoe UI"/>
              </a:rPr>
              <a:t>guided 10-minute flight.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9CA3AF"/>
                </a:solidFill>
                <a:latin typeface="Segoe UI"/>
              </a:rPr>
              <a:t>Codebase Atlas  ·  S T P Hayavadan  ·  Microsoft Agents League @ AISF 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9CA3AF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59E0B"/>
                </a:solidFill>
                <a:latin typeface="Segoe UI"/>
              </a:rPr>
              <a:t>02 · 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7280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E8ECF4"/>
                </a:solidFill>
                <a:latin typeface="Segoe UI"/>
              </a:rPr>
              <a:t>Reading a new codebase is genuinely painful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440680" cy="1097280"/>
          </a:xfrm>
          <a:prstGeom prst="roundRect">
            <a:avLst/>
          </a:prstGeom>
          <a:solidFill>
            <a:srgbClr val="161B29"/>
          </a:solidFill>
          <a:ln w="12700">
            <a:solidFill>
              <a:srgbClr val="2A31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993392"/>
            <a:ext cx="5038344" cy="76809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F59E0B"/>
                </a:solidFill>
                <a:latin typeface="Segoe UI"/>
              </a:rPr>
              <a:t>Cold start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F59E0B"/>
                </a:solidFill>
                <a:latin typeface="Segoe UI"/>
              </a:rPr>
              <a:t>›  </a:t>
            </a:r>
            <a:r>
              <a:rPr sz="1150" b="0" i="0">
                <a:solidFill>
                  <a:srgbClr val="E8ECF4"/>
                </a:solidFill>
                <a:latin typeface="Segoe UI"/>
              </a:rPr>
              <a:t>New joiners stare at a folder tree with zero idea where the story begins.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063240"/>
            <a:ext cx="5440680" cy="1097280"/>
          </a:xfrm>
          <a:prstGeom prst="roundRect">
            <a:avLst/>
          </a:prstGeom>
          <a:solidFill>
            <a:srgbClr val="161B29"/>
          </a:solidFill>
          <a:ln w="12700">
            <a:solidFill>
              <a:srgbClr val="2A31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3227832"/>
            <a:ext cx="5038344" cy="76809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F472B6"/>
                </a:solidFill>
                <a:latin typeface="Segoe UI"/>
              </a:rPr>
              <a:t>No map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F472B6"/>
                </a:solidFill>
                <a:latin typeface="Segoe UI"/>
              </a:rPr>
              <a:t>›  </a:t>
            </a:r>
            <a:r>
              <a:rPr sz="1150" b="0" i="0">
                <a:solidFill>
                  <a:srgbClr val="E8ECF4"/>
                </a:solidFill>
                <a:latin typeface="Segoe UI"/>
              </a:rPr>
              <a:t>READMEs go stale; the real structure lives scattered across hundreds of files.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828800"/>
            <a:ext cx="5440680" cy="1097280"/>
          </a:xfrm>
          <a:prstGeom prst="roundRect">
            <a:avLst/>
          </a:prstGeom>
          <a:solidFill>
            <a:srgbClr val="161B29"/>
          </a:solidFill>
          <a:ln w="12700">
            <a:solidFill>
              <a:srgbClr val="2A31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01968" y="1993392"/>
            <a:ext cx="5038344" cy="76809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22D3EE"/>
                </a:solidFill>
                <a:latin typeface="Segoe UI"/>
              </a:rPr>
              <a:t>Tribal knowledge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22D3EE"/>
                </a:solidFill>
                <a:latin typeface="Segoe UI"/>
              </a:rPr>
              <a:t>›  </a:t>
            </a:r>
            <a:r>
              <a:rPr sz="1150" b="0" i="0">
                <a:solidFill>
                  <a:srgbClr val="E8ECF4"/>
                </a:solidFill>
                <a:latin typeface="Segoe UI"/>
              </a:rPr>
              <a:t>“Ask Dave” is not a documentation strategy. Dave is on vacation.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3063240"/>
            <a:ext cx="5440680" cy="1097280"/>
          </a:xfrm>
          <a:prstGeom prst="roundRect">
            <a:avLst/>
          </a:prstGeom>
          <a:solidFill>
            <a:srgbClr val="161B29"/>
          </a:solidFill>
          <a:ln w="12700">
            <a:solidFill>
              <a:srgbClr val="2A31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01968" y="3227832"/>
            <a:ext cx="5038344" cy="76809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34D399"/>
                </a:solidFill>
                <a:latin typeface="Segoe UI"/>
              </a:rPr>
              <a:t>Context tax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34D399"/>
                </a:solidFill>
                <a:latin typeface="Segoe UI"/>
              </a:rPr>
              <a:t>›  </a:t>
            </a:r>
            <a:r>
              <a:rPr sz="1150" b="0" i="0">
                <a:solidFill>
                  <a:srgbClr val="E8ECF4"/>
                </a:solidFill>
                <a:latin typeface="Segoe UI"/>
              </a:rPr>
              <a:t>Every “where is X handled?” is a manual grep-and-pray expedition.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80560"/>
            <a:ext cx="3383280" cy="1783080"/>
          </a:xfrm>
          <a:prstGeom prst="roundRect">
            <a:avLst/>
          </a:prstGeom>
          <a:solidFill>
            <a:srgbClr val="161B29"/>
          </a:solidFill>
          <a:ln w="19050">
            <a:solidFill>
              <a:srgbClr val="F472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19" y="4553712"/>
            <a:ext cx="320040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Me, day 1 on a new repo: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1" y="5047488"/>
            <a:ext cx="3054096" cy="548639"/>
          </a:xfrm>
          <a:prstGeom prst="roundRect">
            <a:avLst/>
          </a:prstGeom>
          <a:solidFill>
            <a:srgbClr val="0A0C14"/>
          </a:solidFill>
          <a:ln w="12700">
            <a:solidFill>
              <a:srgbClr val="2A31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4671" y="5047488"/>
            <a:ext cx="3054096" cy="548639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0" i="0">
                <a:solidFill>
                  <a:srgbClr val="E8ECF4"/>
                </a:solidFill>
                <a:latin typeface="Segoe UI"/>
              </a:rPr>
              <a:t>🧑‍💻🔥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19" y="5696712"/>
            <a:ext cx="320040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“it’s all connected… somehow”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4526280"/>
            <a:ext cx="7178040" cy="17373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F59E0B"/>
                </a:solidFill>
                <a:latin typeface="Segoe UI"/>
              </a:rPr>
              <a:t>The core problem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0" i="0">
                <a:solidFill>
                  <a:srgbClr val="E8ECF4"/>
                </a:solidFill>
                <a:latin typeface="Segoe UI"/>
              </a:rPr>
              <a:t>Code structure is a </a:t>
            </a:r>
            <a:r>
              <a:rPr sz="1350" b="1" i="0">
                <a:solidFill>
                  <a:srgbClr val="22D3EE"/>
                </a:solidFill>
                <a:latin typeface="Segoe UI"/>
              </a:rPr>
              <a:t>graph</a:t>
            </a:r>
            <a:r>
              <a:rPr sz="1350" b="0" i="0">
                <a:solidFill>
                  <a:srgbClr val="E8ECF4"/>
                </a:solidFill>
                <a:latin typeface="Segoe UI"/>
              </a:rPr>
              <a:t>, but we read it as flat text. Humans navigate </a:t>
            </a:r>
            <a:r>
              <a:rPr sz="1350" b="1" i="0">
                <a:solidFill>
                  <a:srgbClr val="34D399"/>
                </a:solidFill>
                <a:latin typeface="Segoe UI"/>
              </a:rPr>
              <a:t>space and story</a:t>
            </a:r>
            <a:r>
              <a:rPr sz="1350" b="0" i="0">
                <a:solidFill>
                  <a:srgbClr val="E8ECF4"/>
                </a:solidFill>
                <a:latin typeface="Segoe UI"/>
              </a:rPr>
              <a:t>, not 400 alphabetised filenames.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0" i="0">
                <a:solidFill>
                  <a:srgbClr val="9CA3AF"/>
                </a:solidFill>
                <a:latin typeface="Segoe UI"/>
              </a:rPr>
              <a:t>There is no “you are here” pin, no guided route, and no one to narrate the journey. So understanding stays slow, lonely, and easy to get wrong.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9CA3AF"/>
                </a:solidFill>
                <a:latin typeface="Segoe UI"/>
              </a:rPr>
              <a:t>Codebase Atlas  ·  S T P Hayavadan  ·  Microsoft Agents League @ AISF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9CA3AF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34D399"/>
                </a:solidFill>
                <a:latin typeface="Segoe UI"/>
              </a:rPr>
              <a:t>03 · BUSINESS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7280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E8ECF4"/>
                </a:solidFill>
                <a:latin typeface="Segoe UI"/>
              </a:rPr>
              <a:t>Why anyone with a budget should care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3520440" cy="1143000"/>
          </a:xfrm>
          <a:prstGeom prst="roundRect">
            <a:avLst/>
          </a:prstGeom>
          <a:solidFill>
            <a:srgbClr val="161B29"/>
          </a:solidFill>
          <a:ln w="12700">
            <a:solidFill>
              <a:srgbClr val="2A31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892807"/>
            <a:ext cx="352044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34D399"/>
                </a:solidFill>
                <a:latin typeface="Segoe UI"/>
              </a:rPr>
              <a:t>Weeks → Hours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96312"/>
            <a:ext cx="352044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9CA3AF"/>
                </a:solidFill>
                <a:latin typeface="Segoe UI"/>
              </a:rPr>
              <a:t>Faster onboarding to a new repo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783080"/>
            <a:ext cx="3520440" cy="1143000"/>
          </a:xfrm>
          <a:prstGeom prst="roundRect">
            <a:avLst/>
          </a:prstGeom>
          <a:solidFill>
            <a:srgbClr val="161B29"/>
          </a:solidFill>
          <a:ln w="12700">
            <a:solidFill>
              <a:srgbClr val="2A31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43400" y="1892807"/>
            <a:ext cx="352044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22D3EE"/>
                </a:solidFill>
                <a:latin typeface="Segoe UI"/>
              </a:rPr>
              <a:t>↓ Context tax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2496312"/>
            <a:ext cx="352044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9CA3AF"/>
                </a:solidFill>
                <a:latin typeface="Segoe UI"/>
              </a:rPr>
              <a:t>Less senior-dev time spent hand-holding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783080"/>
            <a:ext cx="3520440" cy="1143000"/>
          </a:xfrm>
          <a:prstGeom prst="roundRect">
            <a:avLst/>
          </a:prstGeom>
          <a:solidFill>
            <a:srgbClr val="161B29"/>
          </a:solidFill>
          <a:ln w="12700">
            <a:solidFill>
              <a:srgbClr val="2A31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20" y="1892807"/>
            <a:ext cx="352044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59E0B"/>
                </a:solidFill>
                <a:latin typeface="Segoe UI"/>
              </a:rPr>
              <a:t>Any repo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496312"/>
            <a:ext cx="352044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9CA3AF"/>
                </a:solidFill>
                <a:latin typeface="Segoe UI"/>
              </a:rPr>
              <a:t>Public or private, via PAT clone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200400"/>
            <a:ext cx="5440680" cy="1280160"/>
          </a:xfrm>
          <a:prstGeom prst="roundRect">
            <a:avLst/>
          </a:prstGeom>
          <a:solidFill>
            <a:srgbClr val="161B29"/>
          </a:solidFill>
          <a:ln w="12700">
            <a:solidFill>
              <a:srgbClr val="2A31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7" y="3364992"/>
            <a:ext cx="5038344" cy="95097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34D399"/>
                </a:solidFill>
                <a:latin typeface="Segoe UI"/>
              </a:rPr>
              <a:t>Onboarding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34D399"/>
                </a:solidFill>
                <a:latin typeface="Segoe UI"/>
              </a:rPr>
              <a:t>›  </a:t>
            </a:r>
            <a:r>
              <a:rPr sz="1150" b="0" i="0">
                <a:solidFill>
                  <a:srgbClr val="E8ECF4"/>
                </a:solidFill>
                <a:latin typeface="Segoe UI"/>
              </a:rPr>
              <a:t>Drop a new hire into a narrated flight instead of a folder tree. Productive on day one, not week three.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617720"/>
            <a:ext cx="5440680" cy="1280160"/>
          </a:xfrm>
          <a:prstGeom prst="roundRect">
            <a:avLst/>
          </a:prstGeom>
          <a:solidFill>
            <a:srgbClr val="161B29"/>
          </a:solidFill>
          <a:ln w="12700">
            <a:solidFill>
              <a:srgbClr val="2A31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7" y="4782312"/>
            <a:ext cx="5038344" cy="95097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22D3EE"/>
                </a:solidFill>
                <a:latin typeface="Segoe UI"/>
              </a:rPr>
              <a:t>Knowledge retention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22D3EE"/>
                </a:solidFill>
                <a:latin typeface="Segoe UI"/>
              </a:rPr>
              <a:t>›  </a:t>
            </a:r>
            <a:r>
              <a:rPr sz="1150" b="0" i="0">
                <a:solidFill>
                  <a:srgbClr val="E8ECF4"/>
                </a:solidFill>
                <a:latin typeface="Segoe UI"/>
              </a:rPr>
              <a:t>When the senior dev leaves, the map and narration stay. Tribal knowledge becomes a clickable artifact.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3200400"/>
            <a:ext cx="5440680" cy="1280160"/>
          </a:xfrm>
          <a:prstGeom prst="roundRect">
            <a:avLst/>
          </a:prstGeom>
          <a:solidFill>
            <a:srgbClr val="161B29"/>
          </a:solidFill>
          <a:ln w="12700">
            <a:solidFill>
              <a:srgbClr val="2A31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01968" y="3364992"/>
            <a:ext cx="5038344" cy="95097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F59E0B"/>
                </a:solidFill>
                <a:latin typeface="Segoe UI"/>
              </a:rPr>
              <a:t>Code review &amp; audits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F59E0B"/>
                </a:solidFill>
                <a:latin typeface="Segoe UI"/>
              </a:rPr>
              <a:t>›  </a:t>
            </a:r>
            <a:r>
              <a:rPr sz="1150" b="0" i="0">
                <a:solidFill>
                  <a:srgbClr val="E8ECF4"/>
                </a:solidFill>
                <a:latin typeface="Segoe UI"/>
              </a:rPr>
              <a:t>Ask “where is auth handled?” and land on the exact node — reviews and security passes get a guided index.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4617720"/>
            <a:ext cx="5440680" cy="1280160"/>
          </a:xfrm>
          <a:prstGeom prst="roundRect">
            <a:avLst/>
          </a:prstGeom>
          <a:solidFill>
            <a:srgbClr val="161B29"/>
          </a:solidFill>
          <a:ln w="12700">
            <a:solidFill>
              <a:srgbClr val="2A31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01968" y="4782312"/>
            <a:ext cx="5038344" cy="95097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F472B6"/>
                </a:solidFill>
                <a:latin typeface="Segoe UI"/>
              </a:rPr>
              <a:t>Open-source adoption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F472B6"/>
                </a:solidFill>
                <a:latin typeface="Segoe UI"/>
              </a:rPr>
              <a:t>›  </a:t>
            </a:r>
            <a:r>
              <a:rPr sz="1150" b="0" i="0">
                <a:solidFill>
                  <a:srgbClr val="E8ECF4"/>
                </a:solidFill>
                <a:latin typeface="Segoe UI"/>
              </a:rPr>
              <a:t>Lower the barrier to your first contribution: contributors see the lay of the land before touching a line.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9CA3AF"/>
                </a:solidFill>
                <a:latin typeface="Segoe UI"/>
              </a:rPr>
              <a:t>Codebase Atlas  ·  S T P Hayavadan  ·  Microsoft Agents League @ AISF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9CA3AF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472B6"/>
                </a:solidFill>
                <a:latin typeface="Segoe UI"/>
              </a:rPr>
              <a:t>04 · SOLUTION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7280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E8ECF4"/>
                </a:solidFill>
                <a:latin typeface="Segoe UI"/>
              </a:rPr>
              <a:t>Two halves: deterministic structure + AI narrative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88136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E8ECF4"/>
                </a:solidFill>
                <a:latin typeface="Segoe UI"/>
              </a:rPr>
              <a:t>The structural half (parse → graph → layout) is </a:t>
            </a:r>
            <a:r>
              <a:rPr sz="1400" b="1" i="0">
                <a:solidFill>
                  <a:srgbClr val="22D3EE"/>
                </a:solidFill>
                <a:latin typeface="Segoe UI"/>
              </a:rPr>
              <a:t>100% LLM-free</a:t>
            </a:r>
            <a:r>
              <a:rPr sz="1400" b="0" i="0">
                <a:solidFill>
                  <a:srgbClr val="E8ECF4"/>
                </a:solidFill>
                <a:latin typeface="Segoe UI"/>
              </a:rPr>
              <a:t>: instant, reliable, cached. Foundry IQ is used </a:t>
            </a:r>
            <a:r>
              <a:rPr sz="1400" b="1" i="0">
                <a:solidFill>
                  <a:srgbClr val="F472B6"/>
                </a:solidFill>
                <a:latin typeface="Segoe UI"/>
              </a:rPr>
              <a:t>only for narrative</a:t>
            </a:r>
            <a:r>
              <a:rPr sz="1400" b="0" i="0">
                <a:solidFill>
                  <a:srgbClr val="E8ECF4"/>
                </a:solidFill>
                <a:latin typeface="Segoe UI"/>
              </a:rPr>
              <a:t> — explaining, ordering, navigating. Never for parsing.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514600"/>
            <a:ext cx="5349240" cy="3383280"/>
          </a:xfrm>
          <a:prstGeom prst="roundRect">
            <a:avLst/>
          </a:prstGeom>
          <a:solidFill>
            <a:srgbClr val="161B29"/>
          </a:solidFill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651760"/>
            <a:ext cx="49377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2D3EE"/>
                </a:solidFill>
                <a:latin typeface="Segoe UI"/>
              </a:rPr>
              <a:t>🧩  Deterministic engine (fast &amp; cached)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154680"/>
            <a:ext cx="49377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22D3EE"/>
                </a:solidFill>
                <a:latin typeface="Segoe UI"/>
              </a:rPr>
              <a:t>ingest  </a:t>
            </a:r>
            <a:r>
              <a:rPr sz="1150" b="0" i="0">
                <a:solidFill>
                  <a:srgbClr val="E8ECF4"/>
                </a:solidFill>
                <a:latin typeface="Segoe UI"/>
              </a:rPr>
              <a:t>— walk the repo, keep only authored 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685032"/>
            <a:ext cx="49377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22D3EE"/>
                </a:solidFill>
                <a:latin typeface="Segoe UI"/>
              </a:rPr>
              <a:t>ast_parser  </a:t>
            </a:r>
            <a:r>
              <a:rPr sz="1150" b="0" i="0">
                <a:solidFill>
                  <a:srgbClr val="E8ECF4"/>
                </a:solidFill>
                <a:latin typeface="Segoe UI"/>
              </a:rPr>
              <a:t>— native Python ast → classes, funcs, calls, imports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215384"/>
            <a:ext cx="49377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22D3EE"/>
                </a:solidFill>
                <a:latin typeface="Segoe UI"/>
              </a:rPr>
              <a:t>graph_builder  </a:t>
            </a:r>
            <a:r>
              <a:rPr sz="1150" b="0" i="0">
                <a:solidFill>
                  <a:srgbClr val="E8ECF4"/>
                </a:solidFill>
                <a:latin typeface="Segoe UI"/>
              </a:rPr>
              <a:t>— networkx graph: contains / imports / calls edges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745736"/>
            <a:ext cx="49377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22D3EE"/>
                </a:solidFill>
                <a:latin typeface="Segoe UI"/>
              </a:rPr>
              <a:t>layout  </a:t>
            </a:r>
            <a:r>
              <a:rPr sz="1150" b="0" i="0">
                <a:solidFill>
                  <a:srgbClr val="E8ECF4"/>
                </a:solidFill>
                <a:latin typeface="Segoe UI"/>
              </a:rPr>
              <a:t>— seeded spring layout → stable map coordinates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276088"/>
            <a:ext cx="49377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22D3EE"/>
                </a:solidFill>
                <a:latin typeface="Segoe UI"/>
              </a:rPr>
              <a:t>serialize  </a:t>
            </a:r>
            <a:r>
              <a:rPr sz="1150" b="0" i="0">
                <a:solidFill>
                  <a:srgbClr val="E8ECF4"/>
                </a:solidFill>
                <a:latin typeface="Segoe UI"/>
              </a:rPr>
              <a:t>— one JSON doc: nodes, edges, colors, sizes, stats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2514600"/>
            <a:ext cx="5349240" cy="3383280"/>
          </a:xfrm>
          <a:prstGeom prst="roundRect">
            <a:avLst/>
          </a:prstGeom>
          <a:solidFill>
            <a:srgbClr val="161B29"/>
          </a:solidFill>
          <a:ln w="19050">
            <a:solidFill>
              <a:srgbClr val="F472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2651760"/>
            <a:ext cx="49377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472B6"/>
                </a:solidFill>
                <a:latin typeface="Segoe UI"/>
              </a:rPr>
              <a:t>🤖  Foundry IQ narrative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154680"/>
            <a:ext cx="49377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472B6"/>
                </a:solidFill>
                <a:latin typeface="Segoe UI"/>
              </a:rPr>
              <a:t>narrate  </a:t>
            </a:r>
            <a:r>
              <a:rPr sz="1150" b="0" i="0">
                <a:solidFill>
                  <a:srgbClr val="E8ECF4"/>
                </a:solidFill>
                <a:latin typeface="Segoe UI"/>
              </a:rPr>
              <a:t>— warm 2–4 sentence explanation per node + overview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685032"/>
            <a:ext cx="49377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472B6"/>
                </a:solidFill>
                <a:latin typeface="Segoe UI"/>
              </a:rPr>
              <a:t>tour  </a:t>
            </a:r>
            <a:r>
              <a:rPr sz="1150" b="0" i="0">
                <a:solidFill>
                  <a:srgbClr val="E8ECF4"/>
                </a:solidFill>
                <a:latin typeface="Segoe UI"/>
              </a:rPr>
              <a:t>— SMART model designs the learning order of stops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215384"/>
            <a:ext cx="49377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472B6"/>
                </a:solidFill>
                <a:latin typeface="Segoe UI"/>
              </a:rPr>
              <a:t>kb  </a:t>
            </a:r>
            <a:r>
              <a:rPr sz="1150" b="0" i="0">
                <a:solidFill>
                  <a:srgbClr val="E8ECF4"/>
                </a:solidFill>
                <a:latin typeface="Segoe UI"/>
              </a:rPr>
              <a:t>— Foundry IQ retrieval ranks nodes for a question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745736"/>
            <a:ext cx="49377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472B6"/>
                </a:solidFill>
                <a:latin typeface="Segoe UI"/>
              </a:rPr>
              <a:t>qa_agent  </a:t>
            </a:r>
            <a:r>
              <a:rPr sz="1150" b="0" i="0">
                <a:solidFill>
                  <a:srgbClr val="E8ECF4"/>
                </a:solidFill>
                <a:latin typeface="Segoe UI"/>
              </a:rPr>
              <a:t>— picks the best node, answers, flies camera there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5276088"/>
            <a:ext cx="49377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472B6"/>
                </a:solidFill>
                <a:latin typeface="Segoe UI"/>
              </a:rPr>
              <a:t>pre-generate  </a:t>
            </a:r>
            <a:r>
              <a:rPr sz="1150" b="0" i="0">
                <a:solidFill>
                  <a:srgbClr val="E8ECF4"/>
                </a:solidFill>
                <a:latin typeface="Segoe UI"/>
              </a:rPr>
              <a:t>— ALL narration built up front → dive never stalls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989320"/>
            <a:ext cx="1088136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1">
                <a:solidFill>
                  <a:srgbClr val="9CA3AF"/>
                </a:solidFill>
                <a:latin typeface="Segoe UI"/>
              </a:rPr>
              <a:t>Each AI call carries only the relevant slice of the graph — so it stays fast, cheap, and on-topic. Secrets stay server-side; the browser never sees a key.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9CA3AF"/>
                </a:solidFill>
                <a:latin typeface="Segoe UI"/>
              </a:rPr>
              <a:t>Codebase Atlas  ·  S T P Hayavadan  ·  Microsoft Agents League @ AISF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9CA3AF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2D3EE"/>
                </a:solidFill>
                <a:latin typeface="Segoe UI"/>
              </a:rPr>
              <a:t>05 · TECHNICAL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7280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E8ECF4"/>
                </a:solidFill>
                <a:latin typeface="Segoe UI"/>
              </a:rPr>
              <a:t>How the bytes actually move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965960"/>
            <a:ext cx="1828800" cy="914400"/>
          </a:xfrm>
          <a:prstGeom prst="roundRect">
            <a:avLst/>
          </a:prstGeom>
          <a:solidFill>
            <a:srgbClr val="161B29"/>
          </a:solidFill>
          <a:ln w="22225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965960"/>
            <a:ext cx="1828800" cy="9144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E8ECF4"/>
                </a:solidFill>
                <a:latin typeface="Segoe UI"/>
              </a:rPr>
              <a:t>Python repo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(public / private)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97480" y="1965960"/>
            <a:ext cx="1965960" cy="914400"/>
          </a:xfrm>
          <a:prstGeom prst="roundRect">
            <a:avLst/>
          </a:prstGeom>
          <a:solidFill>
            <a:srgbClr val="161B29"/>
          </a:solidFill>
          <a:ln w="222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697480" y="1965960"/>
            <a:ext cx="1965960" cy="9144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59E0B"/>
                </a:solidFill>
                <a:latin typeface="Segoe UI"/>
              </a:rPr>
              <a:t>repo_clone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shallow clone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9CA3AF"/>
                </a:solidFill>
                <a:latin typeface="Segoe UI"/>
              </a:rPr>
              <a:t>PAT, never stored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1965960"/>
            <a:ext cx="2103120" cy="914400"/>
          </a:xfrm>
          <a:prstGeom prst="roundRect">
            <a:avLst/>
          </a:prstGeom>
          <a:solidFill>
            <a:srgbClr val="161B29"/>
          </a:solidFill>
          <a:ln w="222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0" y="1965960"/>
            <a:ext cx="2103120" cy="9144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2D3EE"/>
                </a:solidFill>
                <a:latin typeface="Segoe UI"/>
              </a:rPr>
              <a:t>Parse pipeline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ingest · ast · graph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· layout · serialize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1965960"/>
            <a:ext cx="1828800" cy="914400"/>
          </a:xfrm>
          <a:prstGeom prst="roundRect">
            <a:avLst/>
          </a:prstGeom>
          <a:solidFill>
            <a:srgbClr val="161B29"/>
          </a:solidFill>
          <a:ln w="222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79" y="1965960"/>
            <a:ext cx="1828800" cy="9144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34D399"/>
                </a:solidFill>
                <a:latin typeface="Segoe UI"/>
              </a:rPr>
              <a:t>graph.json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nodes + edges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331720" y="2423160"/>
            <a:ext cx="365760" cy="0"/>
          </a:xfrm>
          <a:prstGeom prst="line">
            <a:avLst/>
          </a:prstGeom>
          <a:ln w="25400">
            <a:solidFill>
              <a:srgbClr val="22D3E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663440" y="2423160"/>
            <a:ext cx="365760" cy="0"/>
          </a:xfrm>
          <a:prstGeom prst="line">
            <a:avLst/>
          </a:prstGeom>
          <a:ln w="25400">
            <a:solidFill>
              <a:srgbClr val="22D3E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132320" y="2423160"/>
            <a:ext cx="365759" cy="0"/>
          </a:xfrm>
          <a:prstGeom prst="line">
            <a:avLst/>
          </a:prstGeom>
          <a:ln w="25400">
            <a:solidFill>
              <a:srgbClr val="22D3E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5DC6045-A691-430A-9CDE-12ED2FDB6437}"/>
              </a:ext>
            </a:extLst>
          </p:cNvPr>
          <p:cNvGrpSpPr/>
          <p:nvPr/>
        </p:nvGrpSpPr>
        <p:grpSpPr>
          <a:xfrm>
            <a:off x="9951416" y="2362200"/>
            <a:ext cx="2011680" cy="960120"/>
            <a:chOff x="9692640" y="1417320"/>
            <a:chExt cx="2011680" cy="960120"/>
          </a:xfrm>
        </p:grpSpPr>
        <p:sp>
          <p:nvSpPr>
            <p:cNvPr id="17" name="Rounded Rectangle 16"/>
            <p:cNvSpPr/>
            <p:nvPr/>
          </p:nvSpPr>
          <p:spPr>
            <a:xfrm>
              <a:off x="9692640" y="1417320"/>
              <a:ext cx="2011680" cy="960120"/>
            </a:xfrm>
            <a:prstGeom prst="roundRect">
              <a:avLst/>
            </a:prstGeom>
            <a:solidFill>
              <a:srgbClr val="161B29"/>
            </a:solidFill>
            <a:ln w="22225">
              <a:solidFill>
                <a:srgbClr val="F472B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9692640" y="1417320"/>
              <a:ext cx="2011680" cy="960120"/>
            </a:xfrm>
            <a:prstGeom prst="rect">
              <a:avLst/>
            </a:prstGeom>
            <a:noFill/>
          </p:spPr>
          <p:txBody>
            <a:bodyPr wrap="square" lIns="45720" tIns="18288" rIns="45720" bIns="18288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1150" b="1" i="0" dirty="0">
                  <a:solidFill>
                    <a:srgbClr val="F472B6"/>
                  </a:solidFill>
                  <a:latin typeface="Segoe UI"/>
                </a:rPr>
                <a:t>Microsoft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1300" b="1" i="0" dirty="0">
                  <a:solidFill>
                    <a:srgbClr val="F472B6"/>
                  </a:solidFill>
                  <a:latin typeface="Segoe UI"/>
                </a:rPr>
                <a:t>Foundry IQ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900" b="0" i="0" dirty="0">
                  <a:solidFill>
                    <a:srgbClr val="9CA3AF"/>
                  </a:solidFill>
                  <a:latin typeface="Segoe UI"/>
                </a:rPr>
                <a:t>FAST + SMART</a:t>
              </a:r>
            </a:p>
          </p:txBody>
        </p:sp>
      </p:grpSp>
      <p:sp>
        <p:nvSpPr>
          <p:cNvPr id="19" name="Rounded Rectangle 18"/>
          <p:cNvSpPr/>
          <p:nvPr/>
        </p:nvSpPr>
        <p:spPr>
          <a:xfrm>
            <a:off x="7498079" y="3337560"/>
            <a:ext cx="1828800" cy="914400"/>
          </a:xfrm>
          <a:prstGeom prst="roundRect">
            <a:avLst/>
          </a:prstGeom>
          <a:solidFill>
            <a:srgbClr val="161B29"/>
          </a:solidFill>
          <a:ln w="222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98079" y="3337560"/>
            <a:ext cx="1828800" cy="9144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59E0B"/>
                </a:solidFill>
                <a:latin typeface="Segoe UI"/>
              </a:rPr>
              <a:t>build_job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orchestrates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9CA3AF"/>
                </a:solidFill>
                <a:latin typeface="Segoe UI"/>
              </a:rPr>
              <a:t>pre-generation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412480" y="2880360"/>
            <a:ext cx="0" cy="457200"/>
          </a:xfrm>
          <a:prstGeom prst="line">
            <a:avLst/>
          </a:prstGeom>
          <a:ln w="25400">
            <a:solidFill>
              <a:srgbClr val="34D3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>
            <a:cxnSpLocks/>
          </p:cNvCxnSpPr>
          <p:nvPr/>
        </p:nvCxnSpPr>
        <p:spPr>
          <a:xfrm flipH="1">
            <a:off x="9052560" y="2842260"/>
            <a:ext cx="898856" cy="495300"/>
          </a:xfrm>
          <a:prstGeom prst="line">
            <a:avLst/>
          </a:prstGeom>
          <a:ln w="25400">
            <a:solidFill>
              <a:srgbClr val="F472B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937760" y="3337560"/>
            <a:ext cx="2148840" cy="914400"/>
          </a:xfrm>
          <a:prstGeom prst="roundRect">
            <a:avLst/>
          </a:prstGeom>
          <a:solidFill>
            <a:srgbClr val="161B29"/>
          </a:solidFill>
          <a:ln w="222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937760" y="3337560"/>
            <a:ext cx="2148840" cy="9144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2D3EE"/>
                </a:solidFill>
                <a:latin typeface="Segoe UI"/>
              </a:rPr>
              <a:t>FastAPI backend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9CA3AF"/>
                </a:solidFill>
                <a:latin typeface="Segoe UI"/>
              </a:rPr>
              <a:t>/api/graph /tour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9CA3AF"/>
                </a:solidFill>
                <a:latin typeface="Segoe UI"/>
              </a:rPr>
              <a:t>/overview /narrate /ask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7086600" y="3794760"/>
            <a:ext cx="411479" cy="0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2194560" y="3337560"/>
            <a:ext cx="2286000" cy="914400"/>
          </a:xfrm>
          <a:prstGeom prst="roundRect">
            <a:avLst/>
          </a:prstGeom>
          <a:solidFill>
            <a:srgbClr val="161B29"/>
          </a:solidFill>
          <a:ln w="22225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194560" y="3337560"/>
            <a:ext cx="2286000" cy="9144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7C5CFF"/>
                </a:solidFill>
                <a:latin typeface="Segoe UI"/>
              </a:rPr>
              <a:t>React + Sigma.js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WebGL map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9CA3AF"/>
                </a:solidFill>
                <a:latin typeface="Segoe UI"/>
              </a:rPr>
              <a:t>camera fly-to + TTS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4480560" y="3794760"/>
            <a:ext cx="457200" cy="0"/>
          </a:xfrm>
          <a:prstGeom prst="line">
            <a:avLst/>
          </a:prstGeom>
          <a:ln w="25400">
            <a:solidFill>
              <a:srgbClr val="22D3E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502920" y="3337560"/>
            <a:ext cx="1463040" cy="914400"/>
          </a:xfrm>
          <a:prstGeom prst="roundRect">
            <a:avLst/>
          </a:prstGeom>
          <a:solidFill>
            <a:srgbClr val="161B29"/>
          </a:solidFill>
          <a:ln w="222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02920" y="3337560"/>
            <a:ext cx="1463040" cy="9144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E8ECF4"/>
                </a:solidFill>
                <a:latin typeface="Segoe UI"/>
              </a:rPr>
              <a:t>👤 Developer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9CA3AF"/>
                </a:solidFill>
                <a:latin typeface="Segoe UI"/>
              </a:rPr>
              <a:t>the browser</a:t>
            </a:r>
          </a:p>
        </p:txBody>
      </p:sp>
      <p:cxnSp>
        <p:nvCxnSpPr>
          <p:cNvPr id="31" name="Connector 30"/>
          <p:cNvCxnSpPr/>
          <p:nvPr/>
        </p:nvCxnSpPr>
        <p:spPr>
          <a:xfrm flipH="1">
            <a:off x="1965960" y="3794760"/>
            <a:ext cx="228600" cy="0"/>
          </a:xfrm>
          <a:prstGeom prst="line">
            <a:avLst/>
          </a:prstGeom>
          <a:ln w="25400">
            <a:solidFill>
              <a:srgbClr val="7C5C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965960" y="4160520"/>
            <a:ext cx="228600" cy="0"/>
          </a:xfrm>
          <a:prstGeom prst="line">
            <a:avLst/>
          </a:prstGeom>
          <a:ln w="25400">
            <a:solidFill>
              <a:srgbClr val="34D3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502920" y="4617720"/>
            <a:ext cx="11201400" cy="1417320"/>
          </a:xfrm>
          <a:prstGeom prst="roundRect">
            <a:avLst/>
          </a:prstGeom>
          <a:solidFill>
            <a:srgbClr val="161B29"/>
          </a:solidFill>
          <a:ln w="12700">
            <a:solidFill>
              <a:srgbClr val="2A31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31520" y="4736592"/>
            <a:ext cx="10789920" cy="12801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22D3EE"/>
                </a:solidFill>
                <a:latin typeface="Segoe UI"/>
              </a:rPr>
              <a:t>Read the flow:  </a:t>
            </a:r>
            <a:r>
              <a:rPr sz="1250" b="0" i="0">
                <a:solidFill>
                  <a:srgbClr val="E8ECF4"/>
                </a:solidFill>
                <a:latin typeface="Segoe UI"/>
              </a:rPr>
              <a:t>clone → parse to a deterministic graph.json → build_job asks Foundry IQ to design the tour and narrate every node up front → FastAPI serves it all from an in-memory cache → React/Sigma renders the WebGL map and flies the camera.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F59E0B"/>
                </a:solidFill>
                <a:latin typeface="Segoe UI"/>
              </a:rPr>
              <a:t>Stack:  </a:t>
            </a:r>
            <a:r>
              <a:rPr sz="1200" b="0" i="0">
                <a:solidFill>
                  <a:srgbClr val="9CA3AF"/>
                </a:solidFill>
                <a:latin typeface="Segoe UI"/>
              </a:rPr>
              <a:t>Python · FastAPI · networkx · python ast  |  React · TypeScript · Sigma.js · WebGL · Web Speech API  |  Microsoft Foundry IQ (FAST + SMART models).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9CA3AF"/>
                </a:solidFill>
                <a:latin typeface="Segoe UI"/>
              </a:rPr>
              <a:t>Codebase Atlas  ·  S T P Hayavadan  ·  Microsoft Agents League @ AISF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9CA3AF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59E0B"/>
                </a:solidFill>
                <a:latin typeface="Segoe UI"/>
              </a:rPr>
              <a:t>06 · USER FLOW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7280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E8ECF4"/>
                </a:solidFill>
                <a:latin typeface="Segoe UI"/>
              </a:rPr>
              <a:t>What the human actually experiences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74519"/>
            <a:ext cx="5120640" cy="749808"/>
          </a:xfrm>
          <a:prstGeom prst="roundRect">
            <a:avLst/>
          </a:prstGeom>
          <a:solidFill>
            <a:srgbClr val="161B29"/>
          </a:solidFill>
          <a:ln w="19050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874519"/>
            <a:ext cx="548640" cy="749808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874519"/>
            <a:ext cx="548640" cy="7498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0A0C14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90472" y="1947672"/>
            <a:ext cx="4297679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8ECF4"/>
                </a:solidFill>
                <a:latin typeface="Segoe UI"/>
              </a:rPr>
              <a:t>Paste repo URL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90472" y="2276856"/>
            <a:ext cx="4297679" cy="31089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9CA3AF"/>
                </a:solidFill>
                <a:latin typeface="Segoe UI"/>
              </a:rPr>
              <a:t>+ optional PAT &amp; branch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880360"/>
            <a:ext cx="5120640" cy="749808"/>
          </a:xfrm>
          <a:prstGeom prst="roundRect">
            <a:avLst/>
          </a:prstGeom>
          <a:solidFill>
            <a:srgbClr val="161B29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77240" y="2880360"/>
            <a:ext cx="548640" cy="7498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2880360"/>
            <a:ext cx="548640" cy="7498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0A0C14"/>
                </a:solidFill>
                <a:latin typeface="Segoe U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0472" y="2953512"/>
            <a:ext cx="4297679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8ECF4"/>
                </a:solidFill>
                <a:latin typeface="Segoe UI"/>
              </a:rPr>
              <a:t>Build &amp; pre-generate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90472" y="3282696"/>
            <a:ext cx="4297679" cy="31089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9CA3AF"/>
                </a:solidFill>
                <a:latin typeface="Segoe UI"/>
              </a:rPr>
              <a:t>clone · parse · tour · narrate every node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886200"/>
            <a:ext cx="5120640" cy="749808"/>
          </a:xfrm>
          <a:prstGeom prst="roundRect">
            <a:avLst/>
          </a:prstGeom>
          <a:solidFill>
            <a:srgbClr val="161B29"/>
          </a:solidFill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77240" y="3886200"/>
            <a:ext cx="548640" cy="74980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3886200"/>
            <a:ext cx="548640" cy="7498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0A0C14"/>
                </a:solidFill>
                <a:latin typeface="Segoe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90472" y="3959352"/>
            <a:ext cx="4297679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8ECF4"/>
                </a:solidFill>
                <a:latin typeface="Segoe UI"/>
              </a:rPr>
              <a:t>Watch progress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90472" y="4288536"/>
            <a:ext cx="4297679" cy="31089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9CA3AF"/>
                </a:solidFill>
                <a:latin typeface="Segoe UI"/>
              </a:rPr>
              <a:t>cinematic loader, % complete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1874519"/>
            <a:ext cx="5120640" cy="749808"/>
          </a:xfrm>
          <a:prstGeom prst="roundRect">
            <a:avLst/>
          </a:prstGeom>
          <a:solidFill>
            <a:srgbClr val="161B29"/>
          </a:solidFill>
          <a:ln w="190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309360" y="1874519"/>
            <a:ext cx="548640" cy="74980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09360" y="1874519"/>
            <a:ext cx="548640" cy="7498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0A0C14"/>
                </a:solidFill>
                <a:latin typeface="Segoe U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22592" y="1947672"/>
            <a:ext cx="4297679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8ECF4"/>
                </a:solidFill>
                <a:latin typeface="Segoe UI"/>
              </a:rPr>
              <a:t>Enter the Atlas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22592" y="2276856"/>
            <a:ext cx="4297679" cy="31089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9CA3AF"/>
                </a:solidFill>
                <a:latin typeface="Segoe UI"/>
              </a:rPr>
              <a:t>zoomable WebGL map of the code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2880360"/>
            <a:ext cx="5120640" cy="749808"/>
          </a:xfrm>
          <a:prstGeom prst="roundRect">
            <a:avLst/>
          </a:prstGeom>
          <a:solidFill>
            <a:srgbClr val="161B29"/>
          </a:solidFill>
          <a:ln w="19050">
            <a:solidFill>
              <a:srgbClr val="F472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309360" y="2880360"/>
            <a:ext cx="548640" cy="749808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09360" y="2880360"/>
            <a:ext cx="548640" cy="7498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0A0C14"/>
                </a:solidFill>
                <a:latin typeface="Segoe U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22592" y="2953512"/>
            <a:ext cx="4297679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8ECF4"/>
                </a:solidFill>
                <a:latin typeface="Segoe UI"/>
              </a:rPr>
              <a:t>Take the guided tour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22592" y="3282696"/>
            <a:ext cx="4297679" cy="31089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9CA3AF"/>
                </a:solidFill>
                <a:latin typeface="Segoe UI"/>
              </a:rPr>
              <a:t>camera glides stop-to-stop, narration aloud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9360" y="3886200"/>
            <a:ext cx="5120640" cy="749808"/>
          </a:xfrm>
          <a:prstGeom prst="roundRect">
            <a:avLst/>
          </a:prstGeom>
          <a:solidFill>
            <a:srgbClr val="161B29"/>
          </a:solidFill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309360" y="3886200"/>
            <a:ext cx="548640" cy="74980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09360" y="3886200"/>
            <a:ext cx="548640" cy="7498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0A0C14"/>
                </a:solidFill>
                <a:latin typeface="Segoe U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22592" y="3959352"/>
            <a:ext cx="4297679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8ECF4"/>
                </a:solidFill>
                <a:latin typeface="Segoe UI"/>
              </a:rPr>
              <a:t>Ask the guide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22592" y="4288536"/>
            <a:ext cx="4297679" cy="31089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9CA3AF"/>
                </a:solidFill>
                <a:latin typeface="Segoe UI"/>
              </a:rPr>
              <a:t>“where is X?” → camera flies to the answer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337560" y="2624328"/>
            <a:ext cx="0" cy="256032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337560" y="3630168"/>
            <a:ext cx="0" cy="256032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8869680" y="2624328"/>
            <a:ext cx="0" cy="256032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869680" y="3630168"/>
            <a:ext cx="0" cy="256032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869680" y="4261104"/>
            <a:ext cx="0" cy="356616"/>
          </a:xfrm>
          <a:prstGeom prst="line">
            <a:avLst/>
          </a:prstGeom>
          <a:ln w="25400">
            <a:solidFill>
              <a:srgbClr val="34D3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309360" y="4645152"/>
            <a:ext cx="51206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34D399"/>
                </a:solidFill>
                <a:latin typeface="Segoe UI"/>
              </a:rPr>
              <a:t>↺ stays interactive — keep asking, keep flying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1E0888F8-648E-F52F-3260-1F575720FACD}"/>
              </a:ext>
            </a:extLst>
          </p:cNvPr>
          <p:cNvGrpSpPr/>
          <p:nvPr/>
        </p:nvGrpSpPr>
        <p:grpSpPr>
          <a:xfrm>
            <a:off x="3535527" y="5084064"/>
            <a:ext cx="5120640" cy="1325880"/>
            <a:chOff x="777240" y="4892040"/>
            <a:chExt cx="5120640" cy="1325880"/>
          </a:xfrm>
        </p:grpSpPr>
        <p:sp>
          <p:nvSpPr>
            <p:cNvPr id="43" name="Rounded Rectangle 42"/>
            <p:cNvSpPr/>
            <p:nvPr/>
          </p:nvSpPr>
          <p:spPr>
            <a:xfrm>
              <a:off x="777240" y="4892040"/>
              <a:ext cx="5120640" cy="1325880"/>
            </a:xfrm>
            <a:prstGeom prst="roundRect">
              <a:avLst/>
            </a:prstGeom>
            <a:solidFill>
              <a:srgbClr val="161B29"/>
            </a:solidFill>
            <a:ln w="19050">
              <a:solidFill>
                <a:srgbClr val="F472B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868680" y="4965192"/>
              <a:ext cx="4937759" cy="502920"/>
            </a:xfrm>
            <a:prstGeom prst="rect">
              <a:avLst/>
            </a:prstGeom>
            <a:noFill/>
          </p:spPr>
          <p:txBody>
            <a:bodyPr wrap="square" lIns="45720" tIns="18288" rIns="45720" bIns="18288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sz="1250" b="1" i="0">
                  <a:solidFill>
                    <a:srgbClr val="FFFFFF"/>
                  </a:solidFill>
                  <a:latin typeface="Segoe UI"/>
                </a:rPr>
                <a:t>Other tools: “read 12 wiki pages first”</a:t>
              </a:r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941832" y="5458968"/>
              <a:ext cx="4791455" cy="91439"/>
            </a:xfrm>
            <a:prstGeom prst="roundRect">
              <a:avLst/>
            </a:prstGeom>
            <a:solidFill>
              <a:srgbClr val="0A0C14"/>
            </a:solidFill>
            <a:ln w="12700">
              <a:solidFill>
                <a:srgbClr val="2A314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941832" y="5458968"/>
              <a:ext cx="4791455" cy="91439"/>
            </a:xfrm>
            <a:prstGeom prst="rect">
              <a:avLst/>
            </a:prstGeom>
            <a:noFill/>
          </p:spPr>
          <p:txBody>
            <a:bodyPr wrap="square" lIns="45720" tIns="18288" rIns="45720" bIns="18288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sz="4000" b="0" i="0">
                  <a:solidFill>
                    <a:srgbClr val="E8ECF4"/>
                  </a:solidFill>
                  <a:latin typeface="Segoe UI"/>
                </a:rPr>
                <a:t>🗺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868680" y="5650992"/>
              <a:ext cx="4937759" cy="502920"/>
            </a:xfrm>
            <a:prstGeom prst="rect">
              <a:avLst/>
            </a:prstGeom>
            <a:noFill/>
          </p:spPr>
          <p:txBody>
            <a:bodyPr wrap="square" lIns="45720" tIns="18288" rIns="45720" bIns="18288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sz="1250" b="1" i="0">
                  <a:solidFill>
                    <a:srgbClr val="FFFFFF"/>
                  </a:solidFill>
                  <a:latin typeface="Segoe UI"/>
                </a:rPr>
                <a:t>Atlas: “click play, enjoy the flight”</a:t>
              </a:r>
            </a:p>
          </p:txBody>
        </p:sp>
      </p:grpSp>
      <p:sp>
        <p:nvSpPr>
          <p:cNvPr id="48" name="TextBox 47"/>
          <p:cNvSpPr txBox="1"/>
          <p:nvPr/>
        </p:nvSpPr>
        <p:spPr>
          <a:xfrm>
            <a:off x="531222" y="6542532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 dirty="0">
                <a:solidFill>
                  <a:srgbClr val="9CA3AF"/>
                </a:solidFill>
                <a:latin typeface="Segoe UI"/>
              </a:rPr>
              <a:t>Codebase Atlas  ·  S T P Hayavadan  ·  Microsoft Agents League @ AISF 2026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9CA3AF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34D399"/>
                </a:solidFill>
                <a:latin typeface="Segoe UI"/>
              </a:rPr>
              <a:t>07 ·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7280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E8ECF4"/>
                </a:solidFill>
                <a:latin typeface="Segoe UI"/>
              </a:rPr>
              <a:t>Where the map expands next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440680" cy="1280160"/>
          </a:xfrm>
          <a:prstGeom prst="roundRect">
            <a:avLst/>
          </a:prstGeom>
          <a:solidFill>
            <a:srgbClr val="161B29"/>
          </a:solidFill>
          <a:ln w="12700">
            <a:solidFill>
              <a:srgbClr val="2A31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993392"/>
            <a:ext cx="5038344" cy="95097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22D3EE"/>
                </a:solidFill>
                <a:latin typeface="Segoe UI"/>
              </a:rPr>
              <a:t>More languages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22D3EE"/>
                </a:solidFill>
                <a:latin typeface="Segoe UI"/>
              </a:rPr>
              <a:t>›  </a:t>
            </a:r>
            <a:r>
              <a:rPr sz="1150" b="0" i="0">
                <a:solidFill>
                  <a:srgbClr val="E8ECF4"/>
                </a:solidFill>
                <a:latin typeface="Segoe UI"/>
              </a:rPr>
              <a:t>Graph schema is language-agnostic; add JS/TS, Go, Java behind the same /api/graph contract.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46120"/>
            <a:ext cx="5440680" cy="1280160"/>
          </a:xfrm>
          <a:prstGeom prst="roundRect">
            <a:avLst/>
          </a:prstGeom>
          <a:solidFill>
            <a:srgbClr val="161B29"/>
          </a:solidFill>
          <a:ln w="12700">
            <a:solidFill>
              <a:srgbClr val="2A31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3410712"/>
            <a:ext cx="5038344" cy="95097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F472B6"/>
                </a:solidFill>
                <a:latin typeface="Segoe UI"/>
              </a:rPr>
              <a:t>Premium voices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F472B6"/>
                </a:solidFill>
                <a:latin typeface="Segoe UI"/>
              </a:rPr>
              <a:t>›  </a:t>
            </a:r>
            <a:r>
              <a:rPr sz="1150" b="0" i="0">
                <a:solidFill>
                  <a:srgbClr val="E8ECF4"/>
                </a:solidFill>
                <a:latin typeface="Segoe UI"/>
              </a:rPr>
              <a:t>Swap browser TTS for Azure Speech for richer, multi-lingual narration.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663440"/>
            <a:ext cx="5440680" cy="1280160"/>
          </a:xfrm>
          <a:prstGeom prst="roundRect">
            <a:avLst/>
          </a:prstGeom>
          <a:solidFill>
            <a:srgbClr val="161B29"/>
          </a:solidFill>
          <a:ln w="12700">
            <a:solidFill>
              <a:srgbClr val="2A31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7" y="4828031"/>
            <a:ext cx="5038344" cy="95097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F59E0B"/>
                </a:solidFill>
                <a:latin typeface="Segoe UI"/>
              </a:rPr>
              <a:t>Live diff tours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F59E0B"/>
                </a:solidFill>
                <a:latin typeface="Segoe UI"/>
              </a:rPr>
              <a:t>›  </a:t>
            </a:r>
            <a:r>
              <a:rPr sz="1150" b="0" i="0">
                <a:solidFill>
                  <a:srgbClr val="E8ECF4"/>
                </a:solidFill>
                <a:latin typeface="Segoe UI"/>
              </a:rPr>
              <a:t>Narrate a pull request: “here’s what changed and why it matters.”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828800"/>
            <a:ext cx="5440680" cy="1280160"/>
          </a:xfrm>
          <a:prstGeom prst="roundRect">
            <a:avLst/>
          </a:prstGeom>
          <a:solidFill>
            <a:srgbClr val="161B29"/>
          </a:solidFill>
          <a:ln w="12700">
            <a:solidFill>
              <a:srgbClr val="2A31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01968" y="1993392"/>
            <a:ext cx="5038344" cy="95097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34D399"/>
                </a:solidFill>
                <a:latin typeface="Segoe UI"/>
              </a:rPr>
              <a:t>Team annotations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34D399"/>
                </a:solidFill>
                <a:latin typeface="Segoe UI"/>
              </a:rPr>
              <a:t>›  </a:t>
            </a:r>
            <a:r>
              <a:rPr sz="1150" b="0" i="0">
                <a:solidFill>
                  <a:srgbClr val="E8ECF4"/>
                </a:solidFill>
                <a:latin typeface="Segoe UI"/>
              </a:rPr>
              <a:t>Let humans pin notes on nodes — blend AI narration with tribal wisdom.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246120"/>
            <a:ext cx="5440680" cy="1280160"/>
          </a:xfrm>
          <a:prstGeom prst="roundRect">
            <a:avLst/>
          </a:prstGeom>
          <a:solidFill>
            <a:srgbClr val="161B29"/>
          </a:solidFill>
          <a:ln w="12700">
            <a:solidFill>
              <a:srgbClr val="2A31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01968" y="3410712"/>
            <a:ext cx="5038344" cy="95097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7C5CFF"/>
                </a:solidFill>
                <a:latin typeface="Segoe UI"/>
              </a:rPr>
              <a:t>Deeper retrieval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7C5CFF"/>
                </a:solidFill>
                <a:latin typeface="Segoe UI"/>
              </a:rPr>
              <a:t>›  </a:t>
            </a:r>
            <a:r>
              <a:rPr sz="1150" b="0" i="0">
                <a:solidFill>
                  <a:srgbClr val="E8ECF4"/>
                </a:solidFill>
                <a:latin typeface="Segoe UI"/>
              </a:rPr>
              <a:t>Foundry IQ over commit history &amp; issues, not just current source.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4663440"/>
            <a:ext cx="5440680" cy="1280160"/>
          </a:xfrm>
          <a:prstGeom prst="roundRect">
            <a:avLst/>
          </a:prstGeom>
          <a:solidFill>
            <a:srgbClr val="161B29"/>
          </a:solidFill>
          <a:ln w="12700">
            <a:solidFill>
              <a:srgbClr val="2A31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01968" y="4828031"/>
            <a:ext cx="5038344" cy="95097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22D3EE"/>
                </a:solidFill>
                <a:latin typeface="Segoe UI"/>
              </a:rPr>
              <a:t>Embeddable widget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22D3EE"/>
                </a:solidFill>
                <a:latin typeface="Segoe UI"/>
              </a:rPr>
              <a:t>›  </a:t>
            </a:r>
            <a:r>
              <a:rPr sz="1150" b="0" i="0">
                <a:solidFill>
                  <a:srgbClr val="E8ECF4"/>
                </a:solidFill>
                <a:latin typeface="Segoe UI"/>
              </a:rPr>
              <a:t>Drop the Atlas into any repo’s docs site as a living explainer.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9CA3AF"/>
                </a:solidFill>
                <a:latin typeface="Segoe UI"/>
              </a:rPr>
              <a:t>Codebase Atlas  ·  S T P Hayavadan  ·  Microsoft Agents League @ AISF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9CA3AF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472B6"/>
                </a:solidFill>
                <a:latin typeface="Segoe UI"/>
              </a:rPr>
              <a:t>08 ·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7280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E8ECF4"/>
                </a:solidFill>
                <a:latin typeface="Segoe UI"/>
              </a:rPr>
              <a:t>The takeaway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881360" cy="1463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E8ECF4"/>
                </a:solidFill>
                <a:latin typeface="Segoe UI"/>
              </a:rPr>
              <a:t>Codebase Atlas turns the lonely slog of “understanding a new repo” into a </a:t>
            </a:r>
            <a:r>
              <a:rPr sz="1700" b="1" i="0">
                <a:solidFill>
                  <a:srgbClr val="22D3EE"/>
                </a:solidFill>
                <a:latin typeface="Segoe UI"/>
              </a:rPr>
              <a:t>guided, cinematic flight</a:t>
            </a:r>
            <a:r>
              <a:rPr sz="1700" b="0" i="0">
                <a:solidFill>
                  <a:srgbClr val="E8ECF4"/>
                </a:solidFill>
                <a:latin typeface="Segoe UI"/>
              </a:rPr>
              <a:t>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</a:pPr>
            <a:r>
              <a:rPr sz="1500" b="0" i="0">
                <a:solidFill>
                  <a:srgbClr val="E8ECF4"/>
                </a:solidFill>
                <a:latin typeface="Segoe UI"/>
              </a:rPr>
              <a:t>Deterministic parsing gives a </a:t>
            </a:r>
            <a:r>
              <a:rPr sz="1500" b="1" i="0">
                <a:solidFill>
                  <a:srgbClr val="34D399"/>
                </a:solidFill>
                <a:latin typeface="Segoe UI"/>
              </a:rPr>
              <a:t>reliable map</a:t>
            </a:r>
            <a:r>
              <a:rPr sz="1500" b="0" i="0">
                <a:solidFill>
                  <a:srgbClr val="E8ECF4"/>
                </a:solidFill>
                <a:latin typeface="Segoe UI"/>
              </a:rPr>
              <a:t>; Microsoft Foundry IQ gives it a </a:t>
            </a:r>
            <a:r>
              <a:rPr sz="1500" b="1" i="0">
                <a:solidFill>
                  <a:srgbClr val="F472B6"/>
                </a:solidFill>
                <a:latin typeface="Segoe UI"/>
              </a:rPr>
              <a:t>voice and a sense of direction</a:t>
            </a:r>
            <a:r>
              <a:rPr sz="1500" b="0" i="0">
                <a:solidFill>
                  <a:srgbClr val="E8ECF4"/>
                </a:solidFill>
                <a:latin typeface="Segoe UI"/>
              </a:rPr>
              <a:t>. Together they answer the oldest question in software: </a:t>
            </a:r>
            <a:r>
              <a:rPr sz="1500" b="1" i="0">
                <a:solidFill>
                  <a:srgbClr val="F59E0B"/>
                </a:solidFill>
                <a:latin typeface="Segoe UI"/>
              </a:rPr>
              <a:t>“where do I even start?”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023360"/>
            <a:ext cx="3429000" cy="1554480"/>
          </a:xfrm>
          <a:prstGeom prst="roundRect">
            <a:avLst/>
          </a:prstGeom>
          <a:solidFill>
            <a:srgbClr val="161B29"/>
          </a:solidFill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4160520"/>
            <a:ext cx="34290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0" i="0">
                <a:solidFill>
                  <a:srgbClr val="E8ECF4"/>
                </a:solidFill>
                <a:latin typeface="Segoe UI"/>
              </a:rPr>
              <a:t>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800600"/>
            <a:ext cx="34290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2D3EE"/>
                </a:solidFill>
                <a:latin typeface="Segoe UI"/>
              </a:rPr>
              <a:t>A real 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138928"/>
            <a:ext cx="34290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CA3AF"/>
                </a:solidFill>
                <a:latin typeface="Segoe UI"/>
              </a:rPr>
              <a:t>not a folder tree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4023360"/>
            <a:ext cx="3429000" cy="1554480"/>
          </a:xfrm>
          <a:prstGeom prst="roundRect">
            <a:avLst/>
          </a:prstGeom>
          <a:solidFill>
            <a:srgbClr val="161B29"/>
          </a:solidFill>
          <a:ln w="19050">
            <a:solidFill>
              <a:srgbClr val="F472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43400" y="4160520"/>
            <a:ext cx="34290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0" i="0">
                <a:solidFill>
                  <a:srgbClr val="E8ECF4"/>
                </a:solidFill>
                <a:latin typeface="Segoe UI"/>
              </a:rPr>
              <a:t>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4800600"/>
            <a:ext cx="34290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472B6"/>
                </a:solidFill>
                <a:latin typeface="Segoe UI"/>
              </a:rPr>
              <a:t>An AI guide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5138928"/>
            <a:ext cx="34290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CA3AF"/>
                </a:solidFill>
                <a:latin typeface="Segoe UI"/>
              </a:rPr>
              <a:t>that knows this code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9" y="4023360"/>
            <a:ext cx="3429000" cy="1554480"/>
          </a:xfrm>
          <a:prstGeom prst="roundRect">
            <a:avLst/>
          </a:prstGeom>
          <a:solidFill>
            <a:srgbClr val="161B29"/>
          </a:solidFill>
          <a:ln w="190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19" y="4160520"/>
            <a:ext cx="34290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0" i="0">
                <a:solidFill>
                  <a:srgbClr val="E8ECF4"/>
                </a:solidFill>
                <a:latin typeface="Segoe UI"/>
              </a:rPr>
              <a:t>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9" y="4800600"/>
            <a:ext cx="34290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34D399"/>
                </a:solidFill>
                <a:latin typeface="Segoe UI"/>
              </a:rPr>
              <a:t>Always smooth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19" y="5138928"/>
            <a:ext cx="34290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CA3AF"/>
                </a:solidFill>
                <a:latin typeface="Segoe UI"/>
              </a:rPr>
              <a:t>pre-generated, never stalls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760720"/>
            <a:ext cx="108813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1">
                <a:solidFill>
                  <a:srgbClr val="F59E0B"/>
                </a:solidFill>
                <a:latin typeface="Segoe UI"/>
              </a:rPr>
              <a:t>If a codebase is a city, Codebase Atlas is the tour bus, the map, and the friendly guide on the mic. 🚌🎤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9CA3AF"/>
                </a:solidFill>
                <a:latin typeface="Segoe UI"/>
              </a:rPr>
              <a:t>Codebase Atlas  ·  S T P Hayavadan  ·  Microsoft Agents League @ AISF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9CA3AF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2176" y="0"/>
            <a:ext cx="12191695" cy="6858000"/>
          </a:xfrm>
          <a:prstGeom prst="rect">
            <a:avLst/>
          </a:prstGeom>
          <a:solidFill>
            <a:srgbClr val="0A0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7C5CFF"/>
                </a:solidFill>
                <a:latin typeface="Segoe UI"/>
              </a:rPr>
              <a:t>09 · VOTE OF 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7280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E8ECF4"/>
                </a:solidFill>
                <a:latin typeface="Segoe UI"/>
              </a:rPr>
              <a:t>Thank you, Microsoft team 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10881360" cy="2286000"/>
          </a:xfrm>
          <a:prstGeom prst="roundRect">
            <a:avLst/>
          </a:prstGeom>
          <a:solidFill>
            <a:srgbClr val="161B29"/>
          </a:solidFill>
          <a:ln w="19050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149840" cy="19202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0" i="0">
                <a:solidFill>
                  <a:srgbClr val="E8ECF4"/>
                </a:solidFill>
                <a:latin typeface="Segoe UI"/>
              </a:rPr>
              <a:t>A huge thank-you to the </a:t>
            </a:r>
            <a:r>
              <a:rPr sz="1600" b="1" i="0">
                <a:solidFill>
                  <a:srgbClr val="7C5CFF"/>
                </a:solidFill>
                <a:latin typeface="Segoe UI"/>
              </a:rPr>
              <a:t>Microsoft team</a:t>
            </a:r>
            <a:r>
              <a:rPr sz="1600" b="0" i="0">
                <a:solidFill>
                  <a:srgbClr val="E8ECF4"/>
                </a:solidFill>
                <a:latin typeface="Segoe UI"/>
              </a:rPr>
              <a:t> for organizing the </a:t>
            </a:r>
            <a:r>
              <a:rPr sz="1600" b="1" i="0">
                <a:solidFill>
                  <a:srgbClr val="22D3EE"/>
                </a:solidFill>
                <a:latin typeface="Segoe UI"/>
              </a:rPr>
              <a:t>Agents League @ AISF 2026</a:t>
            </a:r>
            <a:r>
              <a:rPr sz="1600" b="0" i="0">
                <a:solidFill>
                  <a:srgbClr val="E8ECF4"/>
                </a:solidFill>
                <a:latin typeface="Segoe UI"/>
              </a:rPr>
              <a:t> hackathon.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50" b="0" i="0">
                <a:solidFill>
                  <a:srgbClr val="E8ECF4"/>
                </a:solidFill>
                <a:latin typeface="Segoe UI"/>
              </a:rPr>
              <a:t>Thank you for the live coding battles on Microsoft Reactor, the welcoming Discord community, and especially for </a:t>
            </a:r>
            <a:r>
              <a:rPr sz="1450" b="1" i="0">
                <a:solidFill>
                  <a:srgbClr val="F472B6"/>
                </a:solidFill>
                <a:latin typeface="Segoe UI"/>
              </a:rPr>
              <a:t>Foundry IQ</a:t>
            </a:r>
            <a:r>
              <a:rPr sz="1450" b="0" i="0">
                <a:solidFill>
                  <a:srgbClr val="E8ECF4"/>
                </a:solidFill>
                <a:latin typeface="Segoe UI"/>
              </a:rPr>
              <a:t> — the intelligence layer that gave this project its voice.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50" b="1" i="0">
                <a:solidFill>
                  <a:srgbClr val="34D399"/>
                </a:solidFill>
                <a:latin typeface="Segoe UI"/>
              </a:rPr>
              <a:t>Building under a deadline is stressful; you made it genuinely fun. 🙌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8B59EB9-005B-570C-8B35-70E8CEC3BD94}"/>
              </a:ext>
            </a:extLst>
          </p:cNvPr>
          <p:cNvGrpSpPr/>
          <p:nvPr/>
        </p:nvGrpSpPr>
        <p:grpSpPr>
          <a:xfrm>
            <a:off x="378671" y="4645152"/>
            <a:ext cx="11429999" cy="347472"/>
            <a:chOff x="822960" y="4645152"/>
            <a:chExt cx="11429999" cy="347472"/>
          </a:xfrm>
        </p:grpSpPr>
        <p:sp>
          <p:nvSpPr>
            <p:cNvPr id="8" name="Rounded Rectangle 7"/>
            <p:cNvSpPr/>
            <p:nvPr/>
          </p:nvSpPr>
          <p:spPr>
            <a:xfrm>
              <a:off x="822960" y="4663440"/>
              <a:ext cx="2185416" cy="310896"/>
            </a:xfrm>
            <a:prstGeom prst="roundRect">
              <a:avLst/>
            </a:prstGeom>
            <a:noFill/>
            <a:ln w="15875">
              <a:solidFill>
                <a:srgbClr val="22D3E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22960" y="4645152"/>
              <a:ext cx="2185416" cy="347472"/>
            </a:xfrm>
            <a:prstGeom prst="rect">
              <a:avLst/>
            </a:prstGeom>
            <a:noFill/>
          </p:spPr>
          <p:txBody>
            <a:bodyPr wrap="square" lIns="45720" tIns="18288" rIns="45720" bIns="18288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sz="1100" b="1" i="0">
                  <a:solidFill>
                    <a:srgbClr val="22D3EE"/>
                  </a:solidFill>
                  <a:latin typeface="Segoe UI"/>
                </a:rPr>
                <a:t>Microsoft Reactor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3282696" y="4663440"/>
              <a:ext cx="1353312" cy="310896"/>
            </a:xfrm>
            <a:prstGeom prst="roundRect">
              <a:avLst/>
            </a:prstGeom>
            <a:noFill/>
            <a:ln w="15875">
              <a:solidFill>
                <a:srgbClr val="F472B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282696" y="4645152"/>
              <a:ext cx="1353312" cy="347472"/>
            </a:xfrm>
            <a:prstGeom prst="rect">
              <a:avLst/>
            </a:prstGeom>
            <a:noFill/>
          </p:spPr>
          <p:txBody>
            <a:bodyPr wrap="square" lIns="45720" tIns="18288" rIns="45720" bIns="18288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sz="1100" b="1" i="0">
                  <a:solidFill>
                    <a:srgbClr val="F472B6"/>
                  </a:solidFill>
                  <a:latin typeface="Segoe UI"/>
                </a:rPr>
                <a:t>Foundry IQ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4910328" y="4663440"/>
              <a:ext cx="2542032" cy="310896"/>
            </a:xfrm>
            <a:prstGeom prst="roundRect">
              <a:avLst/>
            </a:prstGeom>
            <a:noFill/>
            <a:ln w="15875">
              <a:solidFill>
                <a:srgbClr val="7C5C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910328" y="4645152"/>
              <a:ext cx="2542032" cy="347472"/>
            </a:xfrm>
            <a:prstGeom prst="rect">
              <a:avLst/>
            </a:prstGeom>
            <a:noFill/>
          </p:spPr>
          <p:txBody>
            <a:bodyPr wrap="square" lIns="45720" tIns="18288" rIns="45720" bIns="18288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sz="1100" b="1" i="0">
                  <a:solidFill>
                    <a:srgbClr val="7C5CFF"/>
                  </a:solidFill>
                  <a:latin typeface="Segoe UI"/>
                </a:rPr>
                <a:t>AISF 2026 organizers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7726679" y="4663440"/>
              <a:ext cx="2185416" cy="310896"/>
            </a:xfrm>
            <a:prstGeom prst="roundRect">
              <a:avLst/>
            </a:prstGeom>
            <a:noFill/>
            <a:ln w="15875">
              <a:solidFill>
                <a:srgbClr val="34D39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7726679" y="4645152"/>
              <a:ext cx="2185416" cy="347472"/>
            </a:xfrm>
            <a:prstGeom prst="rect">
              <a:avLst/>
            </a:prstGeom>
            <a:noFill/>
          </p:spPr>
          <p:txBody>
            <a:bodyPr wrap="square" lIns="45720" tIns="18288" rIns="45720" bIns="18288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sz="1100" b="1" i="0" dirty="0">
                  <a:solidFill>
                    <a:srgbClr val="34D399"/>
                  </a:solidFill>
                  <a:latin typeface="Segoe UI"/>
                </a:rPr>
                <a:t>Discord community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10186415" y="4663440"/>
              <a:ext cx="2066544" cy="310896"/>
            </a:xfrm>
            <a:prstGeom prst="roundRect">
              <a:avLst/>
            </a:prstGeom>
            <a:noFill/>
            <a:ln w="15875">
              <a:solidFill>
                <a:srgbClr val="F59E0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0186415" y="4645152"/>
              <a:ext cx="2066544" cy="347472"/>
            </a:xfrm>
            <a:prstGeom prst="rect">
              <a:avLst/>
            </a:prstGeom>
            <a:noFill/>
          </p:spPr>
          <p:txBody>
            <a:bodyPr wrap="square" lIns="45720" tIns="18288" rIns="45720" bIns="18288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sz="1100" b="1" i="0" dirty="0">
                  <a:solidFill>
                    <a:srgbClr val="F59E0B"/>
                  </a:solidFill>
                  <a:latin typeface="Segoe UI"/>
                </a:rPr>
                <a:t>Judges &amp; mentors</a:t>
              </a:r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640080" y="5394960"/>
            <a:ext cx="1088136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1">
                <a:solidFill>
                  <a:srgbClr val="9CA3AF"/>
                </a:solidFill>
                <a:latin typeface="Segoe UI"/>
              </a:rPr>
              <a:t>“We stand on the shoulders of giants — and this time the giants also shipped a great API.”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9CA3AF"/>
                </a:solidFill>
                <a:latin typeface="Segoe UI"/>
              </a:rPr>
              <a:t>Codebase Atlas  ·  S T P Hayavadan  ·  Microsoft Agents League @ AISF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9CA3AF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-914400" y="2743200"/>
            <a:ext cx="14630400" cy="2011680"/>
          </a:xfrm>
          <a:prstGeom prst="rect">
            <a:avLst/>
          </a:prstGeom>
          <a:solidFill>
            <a:srgbClr val="12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2194560" y="1463040"/>
            <a:ext cx="274320" cy="274320"/>
          </a:xfrm>
          <a:prstGeom prst="ellipse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692640" y="1737360"/>
            <a:ext cx="237744" cy="23774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607040" y="4389120"/>
            <a:ext cx="201168" cy="201168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828800" y="4572000"/>
            <a:ext cx="182880" cy="182880"/>
          </a:xfrm>
          <a:prstGeom prst="ellipse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126480" y="1097280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0" y="2286000"/>
            <a:ext cx="12191695" cy="1371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6400" b="1" i="0">
                <a:solidFill>
                  <a:srgbClr val="E8ECF4"/>
                </a:solidFill>
                <a:latin typeface="Segoe UI"/>
              </a:rPr>
              <a:t>THANK 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3520440"/>
            <a:ext cx="12191695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1">
                <a:solidFill>
                  <a:srgbClr val="22D3EE"/>
                </a:solidFill>
                <a:latin typeface="Segoe UI"/>
              </a:rPr>
              <a:t>Questions? Let me fly you to the answer. 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4389120"/>
            <a:ext cx="12191695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7C5CFF"/>
                </a:solidFill>
                <a:latin typeface="Segoe UI"/>
              </a:rPr>
              <a:t>S T P Hayavadan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4846320"/>
            <a:ext cx="12191695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9CA3AF"/>
                </a:solidFill>
                <a:latin typeface="Segoe UI"/>
              </a:rPr>
              <a:t>Codebase Atlas  ·  Microsoft Agents League @ AISF 2026  ·  Creative Apps · Foundry IQ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1528</Words>
  <Application>Microsoft Office PowerPoint</Application>
  <PresentationFormat>Widescreen</PresentationFormat>
  <Paragraphs>214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Hayavadan, S T P</cp:lastModifiedBy>
  <cp:revision>1</cp:revision>
  <dcterms:created xsi:type="dcterms:W3CDTF">2013-01-27T09:14:16Z</dcterms:created>
  <dcterms:modified xsi:type="dcterms:W3CDTF">2026-06-12T07:15:19Z</dcterms:modified>
  <cp:category/>
</cp:coreProperties>
</file>